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1510" autoAdjust="0"/>
  </p:normalViewPr>
  <p:slideViewPr>
    <p:cSldViewPr snapToGrid="0">
      <p:cViewPr varScale="1">
        <p:scale>
          <a:sx n="147" d="100"/>
          <a:sy n="147" d="100"/>
        </p:scale>
        <p:origin x="3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6817A-A9FA-404E-808C-9980CE924AF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BDF8C-85BA-4341-8AC8-35B4115F4C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21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BDF8C-85BA-4341-8AC8-35B4115F4CF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22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BDF8C-85BA-4341-8AC8-35B4115F4CF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507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C9E31-FD26-6846-735F-F8B6FCD5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E186B0F-F3E2-DC70-75F5-0CCA5C2BE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9E0BC59-C417-5F0C-8D13-C40F57780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F791E3-E43C-E469-3B4C-44475DF08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BDF8C-85BA-4341-8AC8-35B4115F4CF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35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70DF-44FF-6CCB-3107-E0BFC352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A9D769-AC4A-BE0E-C6DB-B1B922122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BA506C-23D3-6EF1-9D4A-D97D9D061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091EEF-E801-45AF-ADA6-6BBCD30F6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BDF8C-85BA-4341-8AC8-35B4115F4CF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543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BAF66-EF55-F817-DBC0-4C3366FB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0DA2B9E-C067-F423-A668-2717897D5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4B82421-0806-03A8-660D-C4D14B56B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2DE5C8-6053-D0EF-808F-E733C4BDF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BDF8C-85BA-4341-8AC8-35B4115F4CF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245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286FA-9E35-DFA8-72CB-6E83B0CEB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CC4B58-8810-84B2-FABA-2E3501395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42A439-9A9C-05B5-529D-2290955A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5C440-411D-6D6C-E775-48AE23A2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C4426F-5887-F0DE-484F-8D039C3C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8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ED49E-B2C3-897F-4EA2-7CEE77F60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00DA94-5F59-AB09-0D0E-583C567CE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E791F3-18BF-C723-385E-5B9C4B4A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31B73A-CCC3-5E06-A362-BE9F1123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2DC579-B875-EDF5-8FA8-74C7F25F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987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A4E208-19A0-C111-BABF-4CD76873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9F6844-3502-0461-8E6E-4ED0DD4EC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4BB949-DD56-7442-C1B2-8C29BA3EB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C142AA-9D54-AB51-9E42-1B10A1F22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34A615-D4EC-6260-673C-9C631373C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85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170B5-097F-FAD3-3A62-673DB1893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5B72AC-AFC3-9AB7-D28B-56370A24B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F7BD72-001A-32FE-8C67-3533955A8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4B0CD1-7034-DB08-0E14-B29CD4CE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FB78F2-9F1A-C532-9898-44A424FFE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70AC7D-0D71-48D5-5FCF-064330920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504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4FA2F-2022-E531-00D6-A0D635B7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5136DA-3515-3909-2A87-F0B512CA9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83AC05-55F2-EE19-27F1-41EDBE871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B31073-790E-B8BB-1121-7CB8D820E8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A058D5-7BE9-4C9E-AE99-776ED83A30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613D2A-3778-8708-FFB4-D4663AF4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4125C1-6055-27CA-0232-C7A70757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287D5E-89D1-8FC0-4C38-BE9D8640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04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4DC54-13D9-EEEE-6066-FCE4D79E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DAEB75-CBF6-143F-E1BE-B87AB0A7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C7CB54-97A1-2E00-D22E-E05911BB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C2BAD2-DCEF-199A-0CAC-7F6A96F4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59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5F25FD-F034-44D2-849D-AFA2EE9EB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1E41E43-298E-C800-9402-ED453958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86B67A-6A9D-D46F-DDFC-0DF7FE82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18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286B0D-20F0-0EAA-DB54-31B19479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112F77-D966-12DB-A9E8-AFD939FB7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3E8AC3A-6869-0043-79A6-497E36920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CBA1CA-5B7E-978C-5771-6BC6BD78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616493-12C7-6292-83C8-D3D047A2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718C17-BD0F-42EF-9A91-2E586570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50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9C9F1-6427-88B4-C6E7-4DF3081E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1EE9A4-709C-8084-4820-46C19824A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6BEA3BD-7E42-B7B1-CC10-99F870AE6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D368F3-4FDA-4F99-6B8C-C2B126E1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AA7C48-0894-B73D-CB5F-A4DA5C14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1DA68EB-755B-1487-0D32-B70914A5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553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9170D4-4F42-3858-10CD-C963BCB0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1133C3-ADC2-E4CE-6724-BDB4595A7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1805C7-77CE-9233-E673-F9C0A597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CF844A-39E9-ABC4-D1B4-31122E06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FF849-3622-BD15-3931-CFB6D78B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180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1FE646D-C110-3F25-BB45-A9D9F680E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61FF98-639A-3603-2A98-57313960C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3F7BFB-43DC-C7B1-BF2A-73DDADFE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9AC241-19FA-A95D-3823-B42F41F4E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30C436-22F6-27FB-8FC7-F90FD19B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429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F899EC-8823-933A-9D6A-9EE3D57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2CB6A5-CB90-A3EC-D206-3F9D51F19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368D5B-39DB-9499-BAE5-BC6EAEE1B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C6EB5-59BE-4DBF-87A0-1007E7134DD5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56F07E-4052-BB88-3D54-A5886682E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A7871D-4006-C548-5E7C-5B61C4BB7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2E908-3E9B-426D-AF49-E183764CB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856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F3686B-82AA-44C7-7DCB-9A6AB0B35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457200"/>
          </a:xfrm>
        </p:spPr>
        <p:txBody>
          <a:bodyPr>
            <a:normAutofit fontScale="90000"/>
          </a:bodyPr>
          <a:lstStyle/>
          <a:p>
            <a:r>
              <a:rPr kumimoji="1" lang="ja-JP" altLang="en-US" sz="2800" dirty="0"/>
              <a:t>ターン制戦闘ＲＰＧの処理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07B0FBD-7972-DFF9-D0E8-D2EC931CBFED}"/>
              </a:ext>
            </a:extLst>
          </p:cNvPr>
          <p:cNvSpPr/>
          <p:nvPr/>
        </p:nvSpPr>
        <p:spPr>
          <a:xfrm>
            <a:off x="1990635" y="2132614"/>
            <a:ext cx="2937405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戦闘ユースケース作成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2CA91EC-91B2-59B4-5B43-BED79620767C}"/>
              </a:ext>
            </a:extLst>
          </p:cNvPr>
          <p:cNvSpPr/>
          <p:nvPr/>
        </p:nvSpPr>
        <p:spPr>
          <a:xfrm>
            <a:off x="1990634" y="2814534"/>
            <a:ext cx="2937408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生存</a:t>
            </a:r>
            <a:r>
              <a:rPr lang="ja-JP" altLang="en-US" b="1" dirty="0">
                <a:solidFill>
                  <a:schemeClr val="bg1"/>
                </a:solidFill>
              </a:rPr>
              <a:t>確認・初期効果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75E1E9B-2C7C-ABD7-DB70-56C4B12D6A44}"/>
              </a:ext>
            </a:extLst>
          </p:cNvPr>
          <p:cNvSpPr/>
          <p:nvPr/>
        </p:nvSpPr>
        <p:spPr>
          <a:xfrm>
            <a:off x="1990620" y="3491632"/>
            <a:ext cx="2937409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Planned</a:t>
            </a:r>
            <a:r>
              <a:rPr kumimoji="1" lang="ja-JP" altLang="en-US" b="1" dirty="0">
                <a:solidFill>
                  <a:schemeClr val="bg1"/>
                </a:solidFill>
              </a:rPr>
              <a:t> </a:t>
            </a:r>
            <a:r>
              <a:rPr kumimoji="1" lang="en-US" altLang="ja-JP" b="1" dirty="0">
                <a:solidFill>
                  <a:schemeClr val="bg1"/>
                </a:solidFill>
              </a:rPr>
              <a:t>Actions</a:t>
            </a:r>
            <a:r>
              <a:rPr kumimoji="1" lang="ja-JP" altLang="en-US" b="1" dirty="0">
                <a:solidFill>
                  <a:schemeClr val="bg1"/>
                </a:solidFill>
              </a:rPr>
              <a:t>作成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1E7FE41-1DB3-A2F0-D773-DE75D185C0F5}"/>
              </a:ext>
            </a:extLst>
          </p:cNvPr>
          <p:cNvSpPr/>
          <p:nvPr/>
        </p:nvSpPr>
        <p:spPr>
          <a:xfrm>
            <a:off x="1990620" y="4168728"/>
            <a:ext cx="2937407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１</a:t>
            </a:r>
            <a:r>
              <a:rPr lang="ja-JP" altLang="en-US" b="1" dirty="0">
                <a:solidFill>
                  <a:schemeClr val="bg1"/>
                </a:solidFill>
              </a:rPr>
              <a:t>ラウンド</a:t>
            </a:r>
            <a:r>
              <a:rPr kumimoji="1" lang="ja-JP" altLang="en-US" b="1" dirty="0">
                <a:solidFill>
                  <a:schemeClr val="bg1"/>
                </a:solidFill>
              </a:rPr>
              <a:t>実行</a:t>
            </a:r>
          </a:p>
        </p:txBody>
      </p:sp>
      <p:sp>
        <p:nvSpPr>
          <p:cNvPr id="9" name="六角形 8">
            <a:extLst>
              <a:ext uri="{FF2B5EF4-FFF2-40B4-BE49-F238E27FC236}">
                <a16:creationId xmlns:a16="http://schemas.microsoft.com/office/drawing/2014/main" id="{330EF305-5879-E6B8-3715-439B8A59EF89}"/>
              </a:ext>
            </a:extLst>
          </p:cNvPr>
          <p:cNvSpPr/>
          <p:nvPr/>
        </p:nvSpPr>
        <p:spPr>
          <a:xfrm>
            <a:off x="1990633" y="4853137"/>
            <a:ext cx="2937405" cy="389093"/>
          </a:xfrm>
          <a:prstGeom prst="hexagon">
            <a:avLst>
              <a:gd name="adj" fmla="val 58195"/>
              <a:gd name="vf" fmla="val 115470"/>
            </a:avLst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bg1"/>
                </a:solidFill>
              </a:rPr>
              <a:t>Round Result</a:t>
            </a:r>
            <a:r>
              <a:rPr kumimoji="1" lang="ja-JP" altLang="en-US" b="1" dirty="0">
                <a:solidFill>
                  <a:schemeClr val="bg1"/>
                </a:solidFill>
              </a:rPr>
              <a:t>判定</a:t>
            </a: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DAB09F4A-C72B-31C2-8AB3-DD98DED470D5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rot="10800000" flipH="1">
            <a:off x="1990632" y="3024420"/>
            <a:ext cx="1" cy="2023265"/>
          </a:xfrm>
          <a:prstGeom prst="bentConnector3">
            <a:avLst>
              <a:gd name="adj1" fmla="val -2286000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9D0F4F6-DCBE-D772-25BD-D138338BE1D8}"/>
              </a:ext>
            </a:extLst>
          </p:cNvPr>
          <p:cNvSpPr/>
          <p:nvPr/>
        </p:nvSpPr>
        <p:spPr>
          <a:xfrm>
            <a:off x="1990618" y="5500883"/>
            <a:ext cx="2937407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chemeClr val="bg1"/>
                </a:solidFill>
              </a:rPr>
              <a:t>報酬獲得・後処理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2727AC7E-70B4-A61D-F47C-F05C14F5F042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rot="10800000" flipV="1">
            <a:off x="1990619" y="5047684"/>
            <a:ext cx="15" cy="663084"/>
          </a:xfrm>
          <a:prstGeom prst="bentConnector3">
            <a:avLst>
              <a:gd name="adj1" fmla="val 152410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9FD50B4-11FA-4560-2AE2-1B478611CAF2}"/>
              </a:ext>
            </a:extLst>
          </p:cNvPr>
          <p:cNvSpPr txBox="1"/>
          <p:nvPr/>
        </p:nvSpPr>
        <p:spPr>
          <a:xfrm>
            <a:off x="425975" y="3860951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Continue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B26A679-CD35-73E0-276D-B257F6D97251}"/>
              </a:ext>
            </a:extLst>
          </p:cNvPr>
          <p:cNvSpPr/>
          <p:nvPr/>
        </p:nvSpPr>
        <p:spPr>
          <a:xfrm>
            <a:off x="1990617" y="6179305"/>
            <a:ext cx="2937407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セーブ確認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ED81FE8-51F9-9D3C-C210-4881A473FCFC}"/>
              </a:ext>
            </a:extLst>
          </p:cNvPr>
          <p:cNvSpPr txBox="1"/>
          <p:nvPr/>
        </p:nvSpPr>
        <p:spPr>
          <a:xfrm>
            <a:off x="291461" y="5225337"/>
            <a:ext cx="134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Continue</a:t>
            </a:r>
            <a:r>
              <a:rPr lang="ja-JP" altLang="en-US" sz="1400" dirty="0"/>
              <a:t>以外</a:t>
            </a:r>
            <a:endParaRPr kumimoji="1" lang="ja-JP" altLang="en-US" sz="1400" dirty="0"/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CBA58FAA-17B3-1F35-41E4-08FDA483C40C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3459338" y="2552383"/>
            <a:ext cx="0" cy="26215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8AE596B2-7A5B-8048-EDC7-64F59DD798C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459325" y="3234303"/>
            <a:ext cx="13" cy="25732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36DD061D-EB69-EC65-C6EA-45B8E8696463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3459324" y="3911401"/>
            <a:ext cx="1" cy="25732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6BC2820B-CECF-0200-5F9D-6959824E804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459324" y="4588497"/>
            <a:ext cx="0" cy="28298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F78291C-AC75-55EC-05CE-BB8578AC6E45}"/>
              </a:ext>
            </a:extLst>
          </p:cNvPr>
          <p:cNvCxnSpPr>
            <a:cxnSpLocks/>
            <a:stCxn id="20" idx="2"/>
            <a:endCxn id="30" idx="0"/>
          </p:cNvCxnSpPr>
          <p:nvPr/>
        </p:nvCxnSpPr>
        <p:spPr>
          <a:xfrm flipH="1">
            <a:off x="3459321" y="5920652"/>
            <a:ext cx="1" cy="258653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61777C0D-CDA5-90A2-36B0-2A5B6BEB9DFC}"/>
              </a:ext>
            </a:extLst>
          </p:cNvPr>
          <p:cNvSpPr/>
          <p:nvPr/>
        </p:nvSpPr>
        <p:spPr>
          <a:xfrm>
            <a:off x="1990629" y="771176"/>
            <a:ext cx="2937405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マスタ・</a:t>
            </a:r>
            <a:r>
              <a:rPr kumimoji="1" lang="en-US" altLang="ja-JP" b="1" dirty="0">
                <a:solidFill>
                  <a:schemeClr val="bg1"/>
                </a:solidFill>
              </a:rPr>
              <a:t>save</a:t>
            </a:r>
            <a:r>
              <a:rPr kumimoji="1" lang="ja-JP" altLang="en-US" b="1" dirty="0">
                <a:solidFill>
                  <a:schemeClr val="bg1"/>
                </a:solidFill>
              </a:rPr>
              <a:t>データ集約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3E84503C-CEC7-FF2C-4B57-E48CB4BC5FE9}"/>
              </a:ext>
            </a:extLst>
          </p:cNvPr>
          <p:cNvCxnSpPr>
            <a:cxnSpLocks/>
            <a:stCxn id="54" idx="2"/>
            <a:endCxn id="71" idx="0"/>
          </p:cNvCxnSpPr>
          <p:nvPr/>
        </p:nvCxnSpPr>
        <p:spPr>
          <a:xfrm flipH="1">
            <a:off x="3459323" y="1190945"/>
            <a:ext cx="9" cy="26208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3C86912B-DB21-3CF1-E8A8-CCE578BCABC3}"/>
              </a:ext>
            </a:extLst>
          </p:cNvPr>
          <p:cNvSpPr/>
          <p:nvPr/>
        </p:nvSpPr>
        <p:spPr>
          <a:xfrm>
            <a:off x="1990620" y="1453029"/>
            <a:ext cx="2937405" cy="419769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場所選択</a:t>
            </a:r>
          </a:p>
        </p:txBody>
      </p: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5BB72B85-0D89-9373-1325-640A248DDD54}"/>
              </a:ext>
            </a:extLst>
          </p:cNvPr>
          <p:cNvCxnSpPr>
            <a:cxnSpLocks/>
            <a:stCxn id="71" idx="2"/>
            <a:endCxn id="4" idx="0"/>
          </p:cNvCxnSpPr>
          <p:nvPr/>
        </p:nvCxnSpPr>
        <p:spPr>
          <a:xfrm>
            <a:off x="3459323" y="1872798"/>
            <a:ext cx="15" cy="2598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F289A6BC-E3A5-5FDB-9B1C-4833C915ECE3}"/>
              </a:ext>
            </a:extLst>
          </p:cNvPr>
          <p:cNvSpPr txBox="1"/>
          <p:nvPr/>
        </p:nvSpPr>
        <p:spPr>
          <a:xfrm>
            <a:off x="5358228" y="657894"/>
            <a:ext cx="6548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Armors,</a:t>
            </a:r>
            <a:r>
              <a:rPr lang="ja-JP" altLang="en-US" dirty="0"/>
              <a:t> </a:t>
            </a:r>
            <a:r>
              <a:rPr lang="en-US" altLang="ja-JP" dirty="0"/>
              <a:t>Items, Jobs, Monsters, Spells, Weapons, Save data,</a:t>
            </a:r>
          </a:p>
          <a:p>
            <a:r>
              <a:rPr lang="en-US" altLang="ja-JP" dirty="0"/>
              <a:t>Locations, Level-Exp, Images,</a:t>
            </a:r>
            <a:r>
              <a:rPr lang="ja-JP" altLang="en-US" dirty="0"/>
              <a:t> </a:t>
            </a:r>
            <a:r>
              <a:rPr lang="en-US" altLang="ja-JP" dirty="0"/>
              <a:t>Sounds</a:t>
            </a:r>
            <a:r>
              <a:rPr lang="ja-JP" altLang="en-US" dirty="0"/>
              <a:t> </a:t>
            </a:r>
            <a:r>
              <a:rPr lang="en-US" altLang="ja-JP" dirty="0"/>
              <a:t>-&gt;</a:t>
            </a:r>
            <a:r>
              <a:rPr lang="ja-JP" altLang="en-US" dirty="0"/>
              <a:t> </a:t>
            </a:r>
            <a:r>
              <a:rPr lang="en-US" altLang="ja-JP" b="1" dirty="0" err="1">
                <a:solidFill>
                  <a:schemeClr val="accent1"/>
                </a:solidFill>
              </a:rPr>
              <a:t>RuntimeState</a:t>
            </a:r>
            <a:endParaRPr kumimoji="1" lang="en-US" altLang="ja-JP" b="1" dirty="0">
              <a:solidFill>
                <a:schemeClr val="accent1"/>
              </a:solidFill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5B418516-C4A1-EB1A-C462-09C3C4BFB19D}"/>
              </a:ext>
            </a:extLst>
          </p:cNvPr>
          <p:cNvSpPr txBox="1"/>
          <p:nvPr/>
        </p:nvSpPr>
        <p:spPr>
          <a:xfrm>
            <a:off x="5358228" y="1478247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Location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-&gt;</a:t>
            </a:r>
            <a:r>
              <a:rPr kumimoji="1" lang="ja-JP" altLang="en-US" dirty="0"/>
              <a:t> </a:t>
            </a:r>
            <a:r>
              <a:rPr lang="ja-JP" altLang="en-US" dirty="0"/>
              <a:t>敵編成</a:t>
            </a:r>
            <a:endParaRPr kumimoji="1" lang="en-US" altLang="ja-JP" dirty="0"/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554F689F-018E-9B51-028A-80C094C208E4}"/>
              </a:ext>
            </a:extLst>
          </p:cNvPr>
          <p:cNvSpPr txBox="1"/>
          <p:nvPr/>
        </p:nvSpPr>
        <p:spPr>
          <a:xfrm>
            <a:off x="5358275" y="2019332"/>
            <a:ext cx="6548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dirty="0"/>
              <a:t> (</a:t>
            </a:r>
            <a:r>
              <a:rPr lang="en-US" altLang="ja-JP" b="1" dirty="0" err="1">
                <a:solidFill>
                  <a:schemeClr val="accent1"/>
                </a:solidFill>
              </a:rPr>
              <a:t>RuntimeState</a:t>
            </a:r>
            <a:r>
              <a:rPr lang="en-US" altLang="ja-JP" dirty="0"/>
              <a:t>, </a:t>
            </a:r>
            <a:r>
              <a:rPr lang="en-US" altLang="ja-JP" dirty="0" err="1"/>
              <a:t>LevelTable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 err="1"/>
              <a:t>PartyMemberRuntime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 err="1"/>
              <a:t>EnemyRuntime</a:t>
            </a:r>
            <a:r>
              <a:rPr lang="en-US" altLang="ja-JP" dirty="0"/>
              <a:t>,</a:t>
            </a:r>
            <a:r>
              <a:rPr lang="ja-JP" altLang="en-US" dirty="0"/>
              <a:t> </a:t>
            </a:r>
            <a:r>
              <a:rPr lang="en-US" altLang="ja-JP" dirty="0" err="1"/>
              <a:t>party_magic_lists</a:t>
            </a:r>
            <a:r>
              <a:rPr lang="en-US" altLang="ja-JP" dirty="0"/>
              <a:t>…)</a:t>
            </a:r>
            <a:endParaRPr kumimoji="1" lang="en-US" altLang="ja-JP" dirty="0"/>
          </a:p>
        </p:txBody>
      </p:sp>
      <p:cxnSp>
        <p:nvCxnSpPr>
          <p:cNvPr id="103" name="コネクタ: カギ線 102">
            <a:extLst>
              <a:ext uri="{FF2B5EF4-FFF2-40B4-BE49-F238E27FC236}">
                <a16:creationId xmlns:a16="http://schemas.microsoft.com/office/drawing/2014/main" id="{4CAA3EC8-50FB-FA58-C10A-191887D823B5}"/>
              </a:ext>
            </a:extLst>
          </p:cNvPr>
          <p:cNvCxnSpPr>
            <a:cxnSpLocks/>
            <a:stCxn id="30" idx="3"/>
            <a:endCxn id="71" idx="3"/>
          </p:cNvCxnSpPr>
          <p:nvPr/>
        </p:nvCxnSpPr>
        <p:spPr>
          <a:xfrm flipV="1">
            <a:off x="4928024" y="1662914"/>
            <a:ext cx="1" cy="4726276"/>
          </a:xfrm>
          <a:prstGeom prst="bentConnector3">
            <a:avLst>
              <a:gd name="adj1" fmla="val 2286010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1F11B56C-B211-6DF1-DB7A-F9DFE7DD8D29}"/>
              </a:ext>
            </a:extLst>
          </p:cNvPr>
          <p:cNvSpPr txBox="1"/>
          <p:nvPr/>
        </p:nvSpPr>
        <p:spPr>
          <a:xfrm>
            <a:off x="5358226" y="3516850"/>
            <a:ext cx="24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Command, Objects…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BFBF2D34-541B-A36A-78E0-460142E8C711}"/>
              </a:ext>
            </a:extLst>
          </p:cNvPr>
          <p:cNvSpPr txBox="1"/>
          <p:nvPr/>
        </p:nvSpPr>
        <p:spPr>
          <a:xfrm>
            <a:off x="5358226" y="4196435"/>
            <a:ext cx="434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Logs, </a:t>
            </a:r>
            <a:r>
              <a:rPr lang="en-US" altLang="ja-JP" dirty="0" err="1"/>
              <a:t>RoundResult</a:t>
            </a:r>
            <a:r>
              <a:rPr lang="en-US" altLang="ja-JP" dirty="0"/>
              <a:t> (Continue…), Event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B7A43D56-A2F8-527A-46B7-C079FF7F51C3}"/>
              </a:ext>
            </a:extLst>
          </p:cNvPr>
          <p:cNvSpPr txBox="1"/>
          <p:nvPr/>
        </p:nvSpPr>
        <p:spPr>
          <a:xfrm>
            <a:off x="5337228" y="5526101"/>
            <a:ext cx="6502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Victory</a:t>
            </a:r>
            <a:r>
              <a:rPr lang="ja-JP" altLang="en-US" dirty="0"/>
              <a:t> </a:t>
            </a:r>
            <a:r>
              <a:rPr lang="en-US" altLang="ja-JP" dirty="0"/>
              <a:t>rewards</a:t>
            </a:r>
            <a:r>
              <a:rPr lang="ja-JP" altLang="en-US" dirty="0"/>
              <a:t> </a:t>
            </a:r>
            <a:r>
              <a:rPr lang="en-US" altLang="ja-JP" dirty="0"/>
              <a:t>(Exp, Gil, CP, Drop Item) -&gt; </a:t>
            </a:r>
            <a:r>
              <a:rPr lang="en-US" altLang="ja-JP" dirty="0" err="1"/>
              <a:t>Lv</a:t>
            </a:r>
            <a:r>
              <a:rPr lang="en-US" altLang="ja-JP" dirty="0"/>
              <a:t>, Inventory…</a:t>
            </a:r>
          </a:p>
        </p:txBody>
      </p:sp>
      <p:sp>
        <p:nvSpPr>
          <p:cNvPr id="110" name="四角形: 角を丸くする 109">
            <a:extLst>
              <a:ext uri="{FF2B5EF4-FFF2-40B4-BE49-F238E27FC236}">
                <a16:creationId xmlns:a16="http://schemas.microsoft.com/office/drawing/2014/main" id="{E1B9C648-195D-58A4-7E30-408EC665ADCA}"/>
              </a:ext>
            </a:extLst>
          </p:cNvPr>
          <p:cNvSpPr/>
          <p:nvPr/>
        </p:nvSpPr>
        <p:spPr>
          <a:xfrm>
            <a:off x="221598" y="1453029"/>
            <a:ext cx="1338819" cy="419768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</a:rPr>
              <a:t>Menu</a:t>
            </a:r>
            <a:endParaRPr kumimoji="1" lang="en-US" altLang="ja-JP" b="1" dirty="0">
              <a:solidFill>
                <a:schemeClr val="bg1"/>
              </a:solidFill>
            </a:endParaRPr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80B87D29-A7CB-AF69-531E-B3E1E1355E88}"/>
              </a:ext>
            </a:extLst>
          </p:cNvPr>
          <p:cNvCxnSpPr>
            <a:cxnSpLocks/>
            <a:stCxn id="71" idx="1"/>
            <a:endCxn id="110" idx="3"/>
          </p:cNvCxnSpPr>
          <p:nvPr/>
        </p:nvCxnSpPr>
        <p:spPr>
          <a:xfrm flipH="1" flipV="1">
            <a:off x="1560417" y="1662913"/>
            <a:ext cx="43020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DDB1C4-CF8A-25C4-7867-060CE7D586EB}"/>
              </a:ext>
            </a:extLst>
          </p:cNvPr>
          <p:cNvSpPr txBox="1"/>
          <p:nvPr/>
        </p:nvSpPr>
        <p:spPr>
          <a:xfrm>
            <a:off x="81329" y="2870529"/>
            <a:ext cx="16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 err="1"/>
              <a:t>e</a:t>
            </a:r>
            <a:r>
              <a:rPr kumimoji="1" lang="en-US" altLang="ja-JP" sz="1400" b="1" dirty="0" err="1"/>
              <a:t>xecute_round</a:t>
            </a:r>
            <a:r>
              <a:rPr kumimoji="1" lang="en-US" altLang="ja-JP" sz="1400" b="1" dirty="0"/>
              <a:t>()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60576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2C3EDA-CEDA-26C7-62A5-84FDFECCB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50258"/>
          </a:xfrm>
        </p:spPr>
        <p:txBody>
          <a:bodyPr>
            <a:normAutofit/>
          </a:bodyPr>
          <a:lstStyle/>
          <a:p>
            <a:pPr algn="ctr"/>
            <a:r>
              <a:rPr kumimoji="1" lang="ja-JP" altLang="en-US" sz="2400" dirty="0"/>
              <a:t>クラス間の階層構造（集約クラスを上位にした整理）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D4F95F-3D80-8BA3-1393-140B8494DB90}"/>
              </a:ext>
            </a:extLst>
          </p:cNvPr>
          <p:cNvSpPr txBox="1"/>
          <p:nvPr/>
        </p:nvSpPr>
        <p:spPr>
          <a:xfrm>
            <a:off x="131495" y="550259"/>
            <a:ext cx="57062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「複数オブジェクトを束ねるクラス」を上位に置いて、</a:t>
            </a:r>
            <a:r>
              <a:rPr lang="en-US" altLang="ja-JP" sz="1400" dirty="0"/>
              <a:t>`main.py` / `app_pygame.py` / `adapters/flask_app.py` </a:t>
            </a:r>
            <a:r>
              <a:rPr lang="ja-JP" altLang="en-US" sz="1400" dirty="0"/>
              <a:t>で共通に使われる戦闘周辺の階層を示します。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7CCAEA-85A0-2DE5-2801-0A5E6EA1D18E}"/>
              </a:ext>
            </a:extLst>
          </p:cNvPr>
          <p:cNvSpPr txBox="1"/>
          <p:nvPr/>
        </p:nvSpPr>
        <p:spPr>
          <a:xfrm>
            <a:off x="131495" y="1745423"/>
            <a:ext cx="528207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r>
              <a:rPr lang="en-US" altLang="ja-JP" sz="1200" dirty="0"/>
              <a:t>                        # </a:t>
            </a:r>
            <a:r>
              <a:rPr lang="ja-JP" altLang="en-US" sz="1200" dirty="0"/>
              <a:t>全マスタ・</a:t>
            </a:r>
            <a:r>
              <a:rPr lang="en-US" altLang="ja-JP" sz="1200" dirty="0"/>
              <a:t>save </a:t>
            </a:r>
            <a:r>
              <a:rPr lang="ja-JP" altLang="en-US" sz="1200" dirty="0"/>
              <a:t>を保持</a:t>
            </a:r>
          </a:p>
          <a:p>
            <a:r>
              <a:rPr lang="ja-JP" altLang="en-US" sz="1200" dirty="0"/>
              <a:t>└─</a:t>
            </a:r>
            <a:r>
              <a:rPr lang="en-US" altLang="ja-JP" sz="1200" dirty="0"/>
              <a:t>(</a:t>
            </a:r>
            <a:r>
              <a:rPr lang="ja-JP" altLang="en-US" sz="1200" dirty="0"/>
              <a:t>入力として渡される</a:t>
            </a:r>
            <a:r>
              <a:rPr lang="en-US" altLang="ja-JP" sz="1200" dirty="0"/>
              <a:t>)</a:t>
            </a:r>
          </a:p>
          <a:p>
            <a:r>
              <a:rPr lang="en-US" altLang="ja-JP" sz="1200" dirty="0"/>
              <a:t>  </a:t>
            </a:r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sz="1200" b="1" dirty="0">
                <a:solidFill>
                  <a:schemeClr val="accent1"/>
                </a:solidFill>
              </a:rPr>
              <a:t> </a:t>
            </a:r>
            <a:r>
              <a:rPr lang="en-US" altLang="ja-JP" sz="1200" dirty="0"/>
              <a:t>                    # 1</a:t>
            </a:r>
            <a:r>
              <a:rPr lang="ja-JP" altLang="en-US" sz="1200" dirty="0"/>
              <a:t>戦闘セッションの集約ルート</a:t>
            </a:r>
          </a:p>
          <a:p>
            <a:r>
              <a:rPr lang="ja-JP" altLang="en-US" sz="1200" dirty="0"/>
              <a:t>  ├─ </a:t>
            </a:r>
            <a:r>
              <a:rPr lang="en-US" altLang="ja-JP" sz="1200" dirty="0"/>
              <a:t>state: </a:t>
            </a:r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endParaRPr lang="en-US" altLang="ja-JP" sz="1200" b="1" dirty="0">
              <a:solidFill>
                <a:schemeClr val="accent1"/>
              </a:solidFill>
            </a:endParaRPr>
          </a:p>
          <a:p>
            <a:r>
              <a:rPr lang="en-US" altLang="ja-JP" sz="1200" dirty="0"/>
              <a:t>  ├─ </a:t>
            </a:r>
            <a:r>
              <a:rPr lang="en-US" altLang="ja-JP" sz="1200" dirty="0" err="1"/>
              <a:t>level_table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LevelTable</a:t>
            </a:r>
            <a:endParaRPr lang="en-US" altLang="ja-JP" sz="1200" dirty="0"/>
          </a:p>
          <a:p>
            <a:r>
              <a:rPr lang="en-US" altLang="ja-JP" sz="1200" dirty="0"/>
              <a:t>  ├─ </a:t>
            </a:r>
            <a:r>
              <a:rPr lang="en-US" altLang="ja-JP" sz="1200" dirty="0" err="1"/>
              <a:t>party_members</a:t>
            </a:r>
            <a:r>
              <a:rPr lang="en-US" altLang="ja-JP" sz="1200" dirty="0"/>
              <a:t>: list[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PartyMemberRuntime</a:t>
            </a:r>
            <a:r>
              <a:rPr lang="en-US" altLang="ja-JP" sz="1200" dirty="0"/>
              <a:t>]</a:t>
            </a:r>
          </a:p>
          <a:p>
            <a:r>
              <a:rPr lang="en-US" altLang="ja-JP" sz="1200" dirty="0"/>
              <a:t>  │  └─ 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PartyMemberRuntime</a:t>
            </a:r>
            <a:endParaRPr lang="en-US" altLang="ja-JP" sz="1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ja-JP" sz="1200" dirty="0"/>
              <a:t>  │     ├─ job: Job</a:t>
            </a:r>
          </a:p>
          <a:p>
            <a:r>
              <a:rPr lang="en-US" altLang="ja-JP" sz="1200" dirty="0"/>
              <a:t>  │     ├─ base: </a:t>
            </a:r>
            <a:r>
              <a:rPr lang="en-US" altLang="ja-JP" sz="1200" dirty="0" err="1"/>
              <a:t>BaseCharacter</a:t>
            </a:r>
            <a:endParaRPr lang="en-US" altLang="ja-JP" sz="1200" dirty="0"/>
          </a:p>
          <a:p>
            <a:r>
              <a:rPr lang="en-US" altLang="ja-JP" sz="1200" dirty="0"/>
              <a:t>  │     ├─ stats: </a:t>
            </a:r>
            <a:r>
              <a:rPr lang="en-US" altLang="ja-JP" sz="1200" dirty="0" err="1"/>
              <a:t>FinalCharacterStats</a:t>
            </a:r>
            <a:endParaRPr lang="en-US" altLang="ja-JP" sz="1200" dirty="0"/>
          </a:p>
          <a:p>
            <a:r>
              <a:rPr lang="en-US" altLang="ja-JP" sz="1200" dirty="0"/>
              <a:t>  │     ├─ state: </a:t>
            </a:r>
            <a:r>
              <a:rPr lang="en-US" altLang="ja-JP" sz="1200" dirty="0" err="1"/>
              <a:t>BattleActorState</a:t>
            </a:r>
            <a:endParaRPr lang="en-US" altLang="ja-JP" sz="1200" dirty="0"/>
          </a:p>
          <a:p>
            <a:r>
              <a:rPr lang="en-US" altLang="ja-JP" sz="1200" dirty="0"/>
              <a:t>  │     └─ equipment: </a:t>
            </a:r>
            <a:r>
              <a:rPr lang="en-US" altLang="ja-JP" sz="1200" dirty="0" err="1"/>
              <a:t>EquipmentSet</a:t>
            </a:r>
            <a:endParaRPr lang="en-US" altLang="ja-JP" sz="1200" dirty="0"/>
          </a:p>
          <a:p>
            <a:r>
              <a:rPr lang="en-US" altLang="ja-JP" sz="1200" dirty="0"/>
              <a:t>  ├─ enemies: list[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EnemyRuntime</a:t>
            </a:r>
            <a:r>
              <a:rPr lang="en-US" altLang="ja-JP" sz="1200" dirty="0"/>
              <a:t>]</a:t>
            </a:r>
          </a:p>
          <a:p>
            <a:r>
              <a:rPr lang="en-US" altLang="ja-JP" sz="1200" dirty="0"/>
              <a:t>  │  └─ 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EnemyRuntime</a:t>
            </a:r>
            <a:endParaRPr lang="en-US" altLang="ja-JP" sz="1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ja-JP" sz="1200" dirty="0"/>
              <a:t>  │     ├─ stats: </a:t>
            </a:r>
            <a:r>
              <a:rPr lang="en-US" altLang="ja-JP" sz="1200" dirty="0" err="1"/>
              <a:t>FinalEnemyStats</a:t>
            </a:r>
            <a:endParaRPr lang="en-US" altLang="ja-JP" sz="1200" dirty="0"/>
          </a:p>
          <a:p>
            <a:r>
              <a:rPr lang="en-US" altLang="ja-JP" sz="1200" dirty="0"/>
              <a:t>  │     └─ state: </a:t>
            </a:r>
            <a:r>
              <a:rPr lang="en-US" altLang="ja-JP" sz="1200" dirty="0" err="1"/>
              <a:t>BattleActorState</a:t>
            </a:r>
            <a:endParaRPr lang="en-US" altLang="ja-JP" sz="1200" dirty="0"/>
          </a:p>
          <a:p>
            <a:r>
              <a:rPr lang="en-US" altLang="ja-JP" sz="1200" dirty="0"/>
              <a:t>  ├─ </a:t>
            </a:r>
            <a:r>
              <a:rPr lang="en-US" altLang="ja-JP" sz="1200" dirty="0" err="1"/>
              <a:t>party_magic_info</a:t>
            </a:r>
            <a:r>
              <a:rPr lang="en-US" altLang="ja-JP" sz="1200" dirty="0"/>
              <a:t>: Any</a:t>
            </a:r>
          </a:p>
          <a:p>
            <a:r>
              <a:rPr lang="en-US" altLang="ja-JP" sz="1200" dirty="0"/>
              <a:t>  ├─ </a:t>
            </a:r>
            <a:r>
              <a:rPr lang="en-US" altLang="ja-JP" sz="1200" dirty="0" err="1"/>
              <a:t>party_magic_lists</a:t>
            </a:r>
            <a:r>
              <a:rPr lang="en-US" altLang="ja-JP" sz="1200" dirty="0"/>
              <a:t>: Any</a:t>
            </a:r>
          </a:p>
          <a:p>
            <a:r>
              <a:rPr lang="en-US" altLang="ja-JP" sz="1200" dirty="0"/>
              <a:t>  └─ </a:t>
            </a:r>
            <a:r>
              <a:rPr lang="en-US" altLang="ja-JP" sz="1200" dirty="0" err="1"/>
              <a:t>spells_expanded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dict</a:t>
            </a:r>
            <a:endParaRPr lang="ja-JP" altLang="en-US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F2EDE19-7EE5-8FD2-ED09-EC1A1CA710F9}"/>
              </a:ext>
            </a:extLst>
          </p:cNvPr>
          <p:cNvSpPr txBox="1"/>
          <p:nvPr/>
        </p:nvSpPr>
        <p:spPr>
          <a:xfrm>
            <a:off x="131495" y="1376091"/>
            <a:ext cx="528207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</a:rPr>
              <a:t>1. </a:t>
            </a:r>
            <a:r>
              <a:rPr lang="ja-JP" altLang="en-US" b="1" dirty="0">
                <a:solidFill>
                  <a:schemeClr val="bg1"/>
                </a:solidFill>
              </a:rPr>
              <a:t>ドメイン中核の階層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5047E45-9EDF-9A96-525C-1C1613683CBB}"/>
              </a:ext>
            </a:extLst>
          </p:cNvPr>
          <p:cNvSpPr txBox="1"/>
          <p:nvPr/>
        </p:nvSpPr>
        <p:spPr>
          <a:xfrm>
            <a:off x="6096000" y="919591"/>
            <a:ext cx="5282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endParaRPr lang="en-US" altLang="ja-JP" sz="1200" b="1" dirty="0">
              <a:solidFill>
                <a:schemeClr val="accent1"/>
              </a:solidFill>
            </a:endParaRPr>
          </a:p>
          <a:p>
            <a:r>
              <a:rPr lang="en-US" altLang="ja-JP" sz="1200" dirty="0"/>
              <a:t>└─ </a:t>
            </a:r>
            <a:r>
              <a:rPr lang="en-US" altLang="ja-JP" sz="1200" b="1" dirty="0" err="1"/>
              <a:t>execute_round</a:t>
            </a:r>
            <a:r>
              <a:rPr lang="en-US" altLang="ja-JP" sz="1200" dirty="0"/>
              <a:t> / </a:t>
            </a:r>
            <a:r>
              <a:rPr lang="en-US" altLang="ja-JP" sz="1200" b="1" dirty="0" err="1"/>
              <a:t>execute_round_dto</a:t>
            </a:r>
            <a:endParaRPr lang="en-US" altLang="ja-JP" sz="1200" b="1" dirty="0"/>
          </a:p>
          <a:p>
            <a:r>
              <a:rPr lang="en-US" altLang="ja-JP" sz="1200" dirty="0"/>
              <a:t>   └─ </a:t>
            </a:r>
            <a:r>
              <a:rPr lang="en-US" altLang="ja-JP" sz="1200" dirty="0" err="1"/>
              <a:t>RoundExecutionResult</a:t>
            </a:r>
            <a:endParaRPr lang="en-US" altLang="ja-JP" sz="1200" dirty="0"/>
          </a:p>
          <a:p>
            <a:r>
              <a:rPr lang="en-US" altLang="ja-JP" sz="1200" dirty="0"/>
              <a:t>      ├─ logs: list[str]</a:t>
            </a:r>
          </a:p>
          <a:p>
            <a:r>
              <a:rPr lang="en-US" altLang="ja-JP" sz="1200" dirty="0"/>
              <a:t>      ├─ </a:t>
            </a:r>
            <a:r>
              <a:rPr lang="en-US" altLang="ja-JP" sz="1200" dirty="0" err="1"/>
              <a:t>round_result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SideTurnResult</a:t>
            </a:r>
            <a:endParaRPr lang="en-US" altLang="ja-JP" sz="1200" dirty="0"/>
          </a:p>
          <a:p>
            <a:r>
              <a:rPr lang="en-US" altLang="ja-JP" sz="1200" dirty="0"/>
              <a:t>      └─ event: list[</a:t>
            </a:r>
            <a:r>
              <a:rPr lang="en-US" altLang="ja-JP" sz="1200" dirty="0" err="1"/>
              <a:t>BattleEvent</a:t>
            </a:r>
            <a:r>
              <a:rPr lang="en-US" altLang="ja-JP" sz="1200" dirty="0"/>
              <a:t>]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274D96-3A01-C920-2AEC-82AE701781DD}"/>
              </a:ext>
            </a:extLst>
          </p:cNvPr>
          <p:cNvSpPr txBox="1"/>
          <p:nvPr/>
        </p:nvSpPr>
        <p:spPr>
          <a:xfrm>
            <a:off x="6096000" y="550259"/>
            <a:ext cx="528207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</a:rPr>
              <a:t>2. </a:t>
            </a:r>
            <a:r>
              <a:rPr lang="ja-JP" altLang="en-US" b="1" dirty="0">
                <a:solidFill>
                  <a:schemeClr val="bg1"/>
                </a:solidFill>
              </a:rPr>
              <a:t>戦闘１ラウンド実行時の階層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1C72755-47CE-2439-D92F-72662169EE44}"/>
              </a:ext>
            </a:extLst>
          </p:cNvPr>
          <p:cNvSpPr txBox="1"/>
          <p:nvPr/>
        </p:nvSpPr>
        <p:spPr>
          <a:xfrm>
            <a:off x="6096000" y="2613572"/>
            <a:ext cx="52820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 err="1">
                <a:solidFill>
                  <a:schemeClr val="accent2"/>
                </a:solidFill>
              </a:rPr>
              <a:t>GameFlowController</a:t>
            </a:r>
            <a:r>
              <a:rPr lang="en-US" altLang="ja-JP" sz="1200" dirty="0"/>
              <a:t>                  # </a:t>
            </a:r>
            <a:r>
              <a:rPr lang="en-US" altLang="ja-JP" sz="1200" dirty="0" err="1"/>
              <a:t>pygame</a:t>
            </a:r>
            <a:r>
              <a:rPr lang="ja-JP" altLang="en-US" sz="1200" dirty="0"/>
              <a:t>全体進行の集約</a:t>
            </a:r>
          </a:p>
          <a:p>
            <a:r>
              <a:rPr lang="ja-JP" altLang="en-US" sz="1200" dirty="0"/>
              <a:t>├─ </a:t>
            </a:r>
            <a:r>
              <a:rPr lang="en-US" altLang="ja-JP" sz="1200" dirty="0"/>
              <a:t>state: </a:t>
            </a:r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endParaRPr lang="en-US" altLang="ja-JP" sz="1200" b="1" dirty="0">
              <a:solidFill>
                <a:schemeClr val="accent1"/>
              </a:solidFill>
            </a:endParaRPr>
          </a:p>
          <a:p>
            <a:r>
              <a:rPr lang="en-US" altLang="ja-JP" sz="1200" dirty="0"/>
              <a:t>├─ </a:t>
            </a:r>
            <a:r>
              <a:rPr lang="en-US" altLang="ja-JP" sz="1200" dirty="0" err="1"/>
              <a:t>level_table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LevelTable</a:t>
            </a:r>
            <a:endParaRPr lang="en-US" altLang="ja-JP" sz="1200" dirty="0"/>
          </a:p>
          <a:p>
            <a:r>
              <a:rPr lang="en-US" altLang="ja-JP" sz="1200" dirty="0"/>
              <a:t>└─ </a:t>
            </a:r>
            <a:r>
              <a:rPr lang="en-US" altLang="ja-JP" sz="1200" b="1" dirty="0" err="1"/>
              <a:t>build_battle_context</a:t>
            </a:r>
            <a:r>
              <a:rPr lang="en-US" altLang="ja-JP" sz="1200" dirty="0"/>
              <a:t>(...)</a:t>
            </a:r>
          </a:p>
          <a:p>
            <a:r>
              <a:rPr lang="en-US" altLang="ja-JP" sz="1200" dirty="0"/>
              <a:t>   └─ </a:t>
            </a:r>
            <a:r>
              <a:rPr lang="en-US" altLang="ja-JP" sz="1200" b="1" dirty="0" err="1">
                <a:solidFill>
                  <a:schemeClr val="accent2"/>
                </a:solidFill>
              </a:rPr>
              <a:t>BattleContext</a:t>
            </a:r>
            <a:r>
              <a:rPr lang="en-US" altLang="ja-JP" sz="1200" dirty="0"/>
              <a:t>                 # </a:t>
            </a:r>
            <a:r>
              <a:rPr lang="ja-JP" altLang="en-US" sz="1200" dirty="0"/>
              <a:t>戦闘</a:t>
            </a:r>
            <a:r>
              <a:rPr lang="en-US" altLang="ja-JP" sz="1200" dirty="0"/>
              <a:t>UI-</a:t>
            </a:r>
            <a:r>
              <a:rPr lang="ja-JP" altLang="en-US" sz="1200" dirty="0"/>
              <a:t>ドメイン橋渡しの集約</a:t>
            </a:r>
          </a:p>
          <a:p>
            <a:r>
              <a:rPr lang="ja-JP" altLang="en-US" sz="1200" dirty="0"/>
              <a:t>      ├─ </a:t>
            </a:r>
            <a:r>
              <a:rPr lang="en-US" altLang="ja-JP" sz="1200" dirty="0" err="1"/>
              <a:t>party_members</a:t>
            </a:r>
            <a:r>
              <a:rPr lang="en-US" altLang="ja-JP" sz="1200" dirty="0"/>
              <a:t>: list[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PartyMemberRuntime</a:t>
            </a:r>
            <a:r>
              <a:rPr lang="en-US" altLang="ja-JP" sz="1200" dirty="0"/>
              <a:t>]</a:t>
            </a:r>
          </a:p>
          <a:p>
            <a:r>
              <a:rPr lang="en-US" altLang="ja-JP" sz="1200" dirty="0"/>
              <a:t>      ├─ enemies: list[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EnemyRuntime</a:t>
            </a:r>
            <a:r>
              <a:rPr lang="en-US" altLang="ja-JP" sz="1200" dirty="0"/>
              <a:t>]</a:t>
            </a:r>
          </a:p>
          <a:p>
            <a:r>
              <a:rPr lang="en-US" altLang="ja-JP" sz="1200" dirty="0"/>
              <a:t>      ├─ </a:t>
            </a:r>
            <a:r>
              <a:rPr lang="en-US" altLang="ja-JP" sz="1200" dirty="0" err="1"/>
              <a:t>spells_expanded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dict</a:t>
            </a:r>
            <a:endParaRPr lang="en-US" altLang="ja-JP" sz="1200" dirty="0"/>
          </a:p>
          <a:p>
            <a:r>
              <a:rPr lang="en-US" altLang="ja-JP" sz="1200" dirty="0"/>
              <a:t>      ├─ se: </a:t>
            </a:r>
            <a:r>
              <a:rPr lang="en-US" altLang="ja-JP" sz="1200" dirty="0" err="1"/>
              <a:t>BattleSE</a:t>
            </a:r>
            <a:endParaRPr lang="en-US" altLang="ja-JP" sz="1200" dirty="0"/>
          </a:p>
          <a:p>
            <a:r>
              <a:rPr lang="en-US" altLang="ja-JP" sz="1200" dirty="0"/>
              <a:t>      ├─ </a:t>
            </a:r>
            <a:r>
              <a:rPr lang="en-US" altLang="ja-JP" sz="1200" dirty="0" err="1"/>
              <a:t>bgm</a:t>
            </a:r>
            <a:r>
              <a:rPr lang="en-US" altLang="ja-JP" sz="1200" dirty="0"/>
              <a:t>: </a:t>
            </a:r>
            <a:r>
              <a:rPr lang="en-US" altLang="ja-JP" sz="1200" dirty="0" err="1"/>
              <a:t>BattleBGM</a:t>
            </a:r>
            <a:endParaRPr lang="en-US" altLang="ja-JP" sz="1200" dirty="0"/>
          </a:p>
          <a:p>
            <a:r>
              <a:rPr lang="en-US" altLang="ja-JP" sz="1200" dirty="0"/>
              <a:t>      └─ </a:t>
            </a:r>
            <a:r>
              <a:rPr lang="ja-JP" altLang="en-US" sz="1200" dirty="0"/>
              <a:t>ロジック関数参照群</a:t>
            </a:r>
          </a:p>
          <a:p>
            <a:endParaRPr lang="ja-JP" altLang="en-US" sz="1200" dirty="0"/>
          </a:p>
          <a:p>
            <a:r>
              <a:rPr lang="en-US" altLang="ja-JP" sz="1200" dirty="0"/>
              <a:t>(</a:t>
            </a:r>
            <a:r>
              <a:rPr lang="en-US" altLang="ja-JP" sz="1200" dirty="0" err="1"/>
              <a:t>BattleFlow</a:t>
            </a:r>
            <a:r>
              <a:rPr lang="en-US" altLang="ja-JP" sz="1200" dirty="0"/>
              <a:t> </a:t>
            </a:r>
            <a:r>
              <a:rPr lang="ja-JP" altLang="en-US" sz="1200" dirty="0"/>
              <a:t>内</a:t>
            </a:r>
            <a:r>
              <a:rPr lang="en-US" altLang="ja-JP" sz="1200" dirty="0"/>
              <a:t>)</a:t>
            </a:r>
          </a:p>
          <a:p>
            <a:r>
              <a:rPr lang="en-US" altLang="ja-JP" sz="1200" dirty="0"/>
              <a:t>└─ </a:t>
            </a:r>
            <a:r>
              <a:rPr lang="en-US" altLang="ja-JP" sz="1200" b="1" dirty="0" err="1">
                <a:solidFill>
                  <a:schemeClr val="accent2"/>
                </a:solidFill>
              </a:rPr>
              <a:t>BattleAppContext</a:t>
            </a:r>
            <a:r>
              <a:rPr lang="en-US" altLang="ja-JP" sz="1200" dirty="0"/>
              <a:t>              # </a:t>
            </a:r>
            <a:r>
              <a:rPr lang="ja-JP" altLang="en-US" sz="1200" dirty="0"/>
              <a:t>入力</a:t>
            </a:r>
            <a:r>
              <a:rPr lang="en-US" altLang="ja-JP" sz="1200" dirty="0"/>
              <a:t>UI</a:t>
            </a:r>
            <a:r>
              <a:rPr lang="ja-JP" altLang="en-US" sz="1200" dirty="0"/>
              <a:t>専用の集約</a:t>
            </a:r>
          </a:p>
          <a:p>
            <a:r>
              <a:rPr lang="ja-JP" altLang="en-US" sz="1200" dirty="0"/>
              <a:t>   ├─ </a:t>
            </a:r>
            <a:r>
              <a:rPr lang="en-US" altLang="ja-JP" sz="1200" dirty="0" err="1"/>
              <a:t>party_members</a:t>
            </a:r>
            <a:r>
              <a:rPr lang="en-US" altLang="ja-JP" sz="1200" dirty="0"/>
              <a:t> / enemies</a:t>
            </a:r>
          </a:p>
          <a:p>
            <a:r>
              <a:rPr lang="en-US" altLang="ja-JP" sz="1200" dirty="0"/>
              <a:t>   ├─ </a:t>
            </a:r>
            <a:r>
              <a:rPr lang="ja-JP" altLang="en-US" sz="1200" dirty="0"/>
              <a:t>コマンド生成関数群</a:t>
            </a:r>
          </a:p>
          <a:p>
            <a:r>
              <a:rPr lang="ja-JP" altLang="en-US" sz="1200" dirty="0"/>
              <a:t>   └─ </a:t>
            </a:r>
            <a:r>
              <a:rPr lang="en-US" altLang="ja-JP" sz="1200" b="1" dirty="0" err="1"/>
              <a:t>on_committed</a:t>
            </a:r>
            <a:r>
              <a:rPr lang="en-US" altLang="ja-JP" sz="1200" dirty="0"/>
              <a:t>(), </a:t>
            </a:r>
            <a:r>
              <a:rPr lang="en-US" altLang="ja-JP" sz="1200" b="1" dirty="0" err="1"/>
              <a:t>all_actions_committed</a:t>
            </a:r>
            <a:r>
              <a:rPr lang="en-US" altLang="ja-JP" sz="1200" dirty="0"/>
              <a:t>()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8B03E12-0D5E-87CB-82A6-EFC5A248C27D}"/>
              </a:ext>
            </a:extLst>
          </p:cNvPr>
          <p:cNvSpPr txBox="1"/>
          <p:nvPr/>
        </p:nvSpPr>
        <p:spPr>
          <a:xfrm>
            <a:off x="6095999" y="2244240"/>
            <a:ext cx="528207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</a:rPr>
              <a:t>3. UI</a:t>
            </a:r>
            <a:r>
              <a:rPr lang="ja-JP" altLang="en-US" b="1" dirty="0">
                <a:solidFill>
                  <a:schemeClr val="bg1"/>
                </a:solidFill>
              </a:rPr>
              <a:t>アダプタ側での集約クラス（</a:t>
            </a:r>
            <a:r>
              <a:rPr lang="en-US" altLang="ja-JP" b="1" dirty="0" err="1">
                <a:solidFill>
                  <a:schemeClr val="bg1"/>
                </a:solidFill>
              </a:rPr>
              <a:t>pygame</a:t>
            </a:r>
            <a:r>
              <a:rPr lang="ja-JP" altLang="en-US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4382CF-5761-7E26-29F8-EAFE2FF74DBB}"/>
              </a:ext>
            </a:extLst>
          </p:cNvPr>
          <p:cNvSpPr txBox="1"/>
          <p:nvPr/>
        </p:nvSpPr>
        <p:spPr>
          <a:xfrm>
            <a:off x="131495" y="6148433"/>
            <a:ext cx="11246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ja-JP" sz="1200" dirty="0"/>
              <a:t>`</a:t>
            </a:r>
            <a:r>
              <a:rPr lang="en-US" altLang="ja-JP" sz="1200" b="1" dirty="0">
                <a:solidFill>
                  <a:srgbClr val="FF0000"/>
                </a:solidFill>
              </a:rPr>
              <a:t>main.py</a:t>
            </a:r>
            <a:r>
              <a:rPr lang="en-US" altLang="ja-JP" sz="1200" dirty="0"/>
              <a:t>`: 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r>
              <a:rPr lang="en-US" altLang="ja-JP" sz="1200" dirty="0"/>
              <a:t>` </a:t>
            </a:r>
            <a:r>
              <a:rPr lang="ja-JP" altLang="en-US" sz="1200" dirty="0"/>
              <a:t>を生成し、</a:t>
            </a:r>
            <a:r>
              <a:rPr lang="en-US" altLang="ja-JP" sz="1200" dirty="0"/>
              <a:t>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sz="1200" dirty="0"/>
              <a:t>` </a:t>
            </a:r>
            <a:r>
              <a:rPr lang="ja-JP" altLang="en-US" sz="1200" dirty="0"/>
              <a:t>を構築してターン進行を管理。</a:t>
            </a:r>
            <a:endParaRPr lang="en-US" altLang="ja-JP" sz="1200" dirty="0"/>
          </a:p>
          <a:p>
            <a:pPr marL="171450" indent="-171450">
              <a:buFontTx/>
              <a:buChar char="-"/>
            </a:pPr>
            <a:r>
              <a:rPr lang="en-US" altLang="ja-JP" sz="1200" dirty="0"/>
              <a:t>`</a:t>
            </a:r>
            <a:r>
              <a:rPr lang="en-US" altLang="ja-JP" sz="1200" b="1" dirty="0">
                <a:solidFill>
                  <a:srgbClr val="FF0000"/>
                </a:solidFill>
              </a:rPr>
              <a:t>app_pygame.py</a:t>
            </a:r>
            <a:r>
              <a:rPr lang="en-US" altLang="ja-JP" sz="1200" dirty="0"/>
              <a:t>`: `</a:t>
            </a:r>
            <a:r>
              <a:rPr lang="en-US" altLang="ja-JP" sz="1200" dirty="0" err="1"/>
              <a:t>GameFlowController</a:t>
            </a:r>
            <a:r>
              <a:rPr lang="en-US" altLang="ja-JP" sz="1200" dirty="0"/>
              <a:t>` </a:t>
            </a:r>
            <a:r>
              <a:rPr lang="ja-JP" altLang="en-US" sz="1200" dirty="0"/>
              <a:t>が内部に </a:t>
            </a:r>
            <a:r>
              <a:rPr lang="en-US" altLang="ja-JP" sz="1200" dirty="0"/>
              <a:t>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r>
              <a:rPr lang="en-US" altLang="ja-JP" sz="1200" dirty="0"/>
              <a:t>` </a:t>
            </a:r>
            <a:r>
              <a:rPr lang="ja-JP" altLang="en-US" sz="1200" dirty="0"/>
              <a:t>を持ち、戦闘単位では </a:t>
            </a:r>
            <a:r>
              <a:rPr lang="en-US" altLang="ja-JP" sz="1200" dirty="0"/>
              <a:t>`</a:t>
            </a:r>
            <a:r>
              <a:rPr lang="en-US" altLang="ja-JP" sz="1200" b="1" dirty="0" err="1">
                <a:solidFill>
                  <a:schemeClr val="accent2"/>
                </a:solidFill>
              </a:rPr>
              <a:t>BattleContext</a:t>
            </a:r>
            <a:r>
              <a:rPr lang="en-US" altLang="ja-JP" sz="1200" dirty="0"/>
              <a:t>` </a:t>
            </a:r>
            <a:r>
              <a:rPr lang="ja-JP" altLang="en-US" sz="1200" dirty="0"/>
              <a:t>を生成して使用。</a:t>
            </a:r>
            <a:endParaRPr lang="en-US" altLang="ja-JP" sz="1200" dirty="0"/>
          </a:p>
          <a:p>
            <a:pPr marL="171450" indent="-171450">
              <a:buFontTx/>
              <a:buChar char="-"/>
            </a:pPr>
            <a:r>
              <a:rPr lang="en-US" altLang="ja-JP" sz="1200" dirty="0"/>
              <a:t>`adapters/</a:t>
            </a:r>
            <a:r>
              <a:rPr lang="en-US" altLang="ja-JP" sz="1200" b="1" dirty="0">
                <a:solidFill>
                  <a:srgbClr val="FF0000"/>
                </a:solidFill>
              </a:rPr>
              <a:t>flask_app.py</a:t>
            </a:r>
            <a:r>
              <a:rPr lang="en-US" altLang="ja-JP" sz="1200" dirty="0"/>
              <a:t>`: `</a:t>
            </a:r>
            <a:r>
              <a:rPr lang="en-US" altLang="ja-JP" sz="1200" dirty="0" err="1"/>
              <a:t>create_app</a:t>
            </a:r>
            <a:r>
              <a:rPr lang="en-US" altLang="ja-JP" sz="1200" dirty="0"/>
              <a:t>()` </a:t>
            </a:r>
            <a:r>
              <a:rPr lang="ja-JP" altLang="en-US" sz="1200" dirty="0"/>
              <a:t>内で </a:t>
            </a:r>
            <a:r>
              <a:rPr lang="en-US" altLang="ja-JP" sz="1200" dirty="0"/>
              <a:t>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sz="1200" dirty="0"/>
              <a:t>` </a:t>
            </a:r>
            <a:r>
              <a:rPr lang="ja-JP" altLang="en-US" sz="1200" dirty="0"/>
              <a:t>を保持し、各</a:t>
            </a:r>
            <a:r>
              <a:rPr lang="en-US" altLang="ja-JP" sz="1200" dirty="0"/>
              <a:t>HTTP</a:t>
            </a:r>
            <a:r>
              <a:rPr lang="ja-JP" altLang="en-US" sz="1200" dirty="0"/>
              <a:t>ルートがそれを操作。</a:t>
            </a:r>
            <a:endParaRPr lang="en-US" altLang="ja-JP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5EAD4E1-9679-C15E-6919-32A4DFB64734}"/>
              </a:ext>
            </a:extLst>
          </p:cNvPr>
          <p:cNvSpPr txBox="1"/>
          <p:nvPr/>
        </p:nvSpPr>
        <p:spPr>
          <a:xfrm>
            <a:off x="131495" y="5779101"/>
            <a:ext cx="528207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</a:rPr>
              <a:t>4. </a:t>
            </a:r>
            <a:r>
              <a:rPr lang="ja-JP" altLang="en-US" b="1" dirty="0">
                <a:solidFill>
                  <a:schemeClr val="bg1"/>
                </a:solidFill>
              </a:rPr>
              <a:t>エントリーポイント別の「上位集約」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334385-A318-6991-BB07-DE04CAF97D1A}"/>
              </a:ext>
            </a:extLst>
          </p:cNvPr>
          <p:cNvSpPr txBox="1"/>
          <p:nvPr/>
        </p:nvSpPr>
        <p:spPr>
          <a:xfrm>
            <a:off x="9961877" y="3995677"/>
            <a:ext cx="2098627" cy="27699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b="1" dirty="0">
                <a:solidFill>
                  <a:schemeClr val="bg1"/>
                </a:solidFill>
              </a:rPr>
              <a:t>UI</a:t>
            </a:r>
            <a:r>
              <a:rPr lang="ja-JP" altLang="en-US" sz="1200" b="1" dirty="0">
                <a:solidFill>
                  <a:schemeClr val="bg1"/>
                </a:solidFill>
              </a:rPr>
              <a:t>アダプタ側の集約ルート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1DE6510-10E5-C749-A372-6ABF532FFC2B}"/>
              </a:ext>
            </a:extLst>
          </p:cNvPr>
          <p:cNvSpPr txBox="1"/>
          <p:nvPr/>
        </p:nvSpPr>
        <p:spPr>
          <a:xfrm>
            <a:off x="9961874" y="4272676"/>
            <a:ext cx="2098627" cy="1569660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- </a:t>
            </a:r>
            <a:r>
              <a:rPr lang="en-US" altLang="ja-JP" sz="1200" dirty="0" err="1"/>
              <a:t>pygame</a:t>
            </a:r>
            <a:r>
              <a:rPr lang="en-US" altLang="ja-JP" sz="1200" dirty="0"/>
              <a:t>: `</a:t>
            </a:r>
            <a:r>
              <a:rPr lang="en-US" altLang="ja-JP" sz="1200" b="1" dirty="0" err="1">
                <a:solidFill>
                  <a:schemeClr val="accent2"/>
                </a:solidFill>
              </a:rPr>
              <a:t>GameFlowController</a:t>
            </a:r>
            <a:r>
              <a:rPr lang="en-US" altLang="ja-JP" sz="1200" dirty="0"/>
              <a:t>` → `</a:t>
            </a:r>
            <a:r>
              <a:rPr lang="en-US" altLang="ja-JP" sz="1200" b="1" dirty="0" err="1">
                <a:solidFill>
                  <a:schemeClr val="accent2"/>
                </a:solidFill>
              </a:rPr>
              <a:t>BattleContext</a:t>
            </a:r>
            <a:r>
              <a:rPr lang="en-US" altLang="ja-JP" sz="1200" dirty="0"/>
              <a:t>` / `</a:t>
            </a:r>
            <a:r>
              <a:rPr lang="en-US" altLang="ja-JP" sz="1200" b="1" dirty="0" err="1">
                <a:solidFill>
                  <a:schemeClr val="accent2"/>
                </a:solidFill>
              </a:rPr>
              <a:t>BattleAppContext</a:t>
            </a:r>
            <a:r>
              <a:rPr lang="en-US" altLang="ja-JP" sz="1200" dirty="0"/>
              <a:t>`</a:t>
            </a:r>
          </a:p>
          <a:p>
            <a:endParaRPr lang="en-US" altLang="ja-JP" sz="1200" dirty="0"/>
          </a:p>
          <a:p>
            <a:r>
              <a:rPr lang="en-US" altLang="ja-JP" sz="1200" dirty="0"/>
              <a:t>- Flask: `</a:t>
            </a:r>
            <a:r>
              <a:rPr lang="en-US" altLang="ja-JP" sz="1200" b="1" dirty="0" err="1"/>
              <a:t>create_app</a:t>
            </a:r>
            <a:r>
              <a:rPr lang="en-US" altLang="ja-JP" sz="1200" dirty="0"/>
              <a:t>()` </a:t>
            </a:r>
            <a:r>
              <a:rPr lang="ja-JP" altLang="en-US" sz="1200" dirty="0"/>
              <a:t>が保持する </a:t>
            </a:r>
            <a:r>
              <a:rPr lang="en-US" altLang="ja-JP" sz="1200" dirty="0"/>
              <a:t>`</a:t>
            </a:r>
            <a:r>
              <a:rPr lang="en-US" altLang="ja-JP" sz="1200" dirty="0" err="1"/>
              <a:t>battle_session</a:t>
            </a:r>
            <a:r>
              <a:rPr lang="en-US" altLang="ja-JP" sz="1200" dirty="0"/>
              <a:t>`</a:t>
            </a:r>
            <a:r>
              <a:rPr lang="ja-JP" altLang="en-US" sz="1200" dirty="0"/>
              <a:t>（</a:t>
            </a:r>
            <a:r>
              <a:rPr lang="en-US" altLang="ja-JP" sz="1200" dirty="0"/>
              <a:t>= 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sz="1200" dirty="0"/>
              <a:t>`)</a:t>
            </a:r>
            <a:endParaRPr lang="ja-JP" altLang="en-US" sz="12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0E07837-5E3F-A980-F351-E7B1B55B1F1D}"/>
              </a:ext>
            </a:extLst>
          </p:cNvPr>
          <p:cNvSpPr txBox="1"/>
          <p:nvPr/>
        </p:nvSpPr>
        <p:spPr>
          <a:xfrm>
            <a:off x="3674536" y="3871356"/>
            <a:ext cx="1739036" cy="276999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200" b="1" dirty="0">
                <a:solidFill>
                  <a:schemeClr val="bg1"/>
                </a:solidFill>
              </a:rPr>
              <a:t>最上位の集約ルート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794ABA3-DD24-ACD6-4C1F-876E0A82BDA6}"/>
              </a:ext>
            </a:extLst>
          </p:cNvPr>
          <p:cNvSpPr txBox="1"/>
          <p:nvPr/>
        </p:nvSpPr>
        <p:spPr>
          <a:xfrm>
            <a:off x="3674533" y="4148355"/>
            <a:ext cx="1739036" cy="461665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: 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RuntimeState</a:t>
            </a:r>
            <a:r>
              <a:rPr lang="en-US" altLang="ja-JP" sz="1200" dirty="0"/>
              <a:t>`</a:t>
            </a:r>
          </a:p>
          <a:p>
            <a:r>
              <a:rPr lang="ja-JP" altLang="en-US" sz="1200" dirty="0"/>
              <a:t>（全体データ）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31DFC87-D8FC-1013-DC6A-18F90036C5B5}"/>
              </a:ext>
            </a:extLst>
          </p:cNvPr>
          <p:cNvSpPr txBox="1"/>
          <p:nvPr/>
        </p:nvSpPr>
        <p:spPr>
          <a:xfrm>
            <a:off x="3674536" y="4610020"/>
            <a:ext cx="1739036" cy="461665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200" b="1" dirty="0">
                <a:solidFill>
                  <a:schemeClr val="bg1"/>
                </a:solidFill>
              </a:rPr>
              <a:t>戦闘ユースケースの</a:t>
            </a:r>
            <a:endParaRPr lang="en-US" altLang="ja-JP" sz="1200" b="1" dirty="0">
              <a:solidFill>
                <a:schemeClr val="bg1"/>
              </a:solidFill>
            </a:endParaRPr>
          </a:p>
          <a:p>
            <a:r>
              <a:rPr lang="ja-JP" altLang="en-US" sz="1200" b="1" dirty="0">
                <a:solidFill>
                  <a:schemeClr val="bg1"/>
                </a:solidFill>
              </a:rPr>
              <a:t>集約ルート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0A2EDBC-5A59-80CE-FBF7-0AB3AEBB19A9}"/>
              </a:ext>
            </a:extLst>
          </p:cNvPr>
          <p:cNvSpPr txBox="1"/>
          <p:nvPr/>
        </p:nvSpPr>
        <p:spPr>
          <a:xfrm>
            <a:off x="3674533" y="5067161"/>
            <a:ext cx="1739036" cy="276999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`</a:t>
            </a:r>
            <a:r>
              <a:rPr lang="en-US" altLang="ja-JP" sz="1200" b="1" dirty="0" err="1">
                <a:solidFill>
                  <a:schemeClr val="accent1"/>
                </a:solidFill>
              </a:rPr>
              <a:t>BattleSession</a:t>
            </a:r>
            <a:r>
              <a:rPr lang="en-US" altLang="ja-JP" sz="1200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93613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E086B-A770-C4C6-8F97-64F3277F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09798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2400" dirty="0"/>
              <a:t>main.py / app_pygame.py / flask_app.py </a:t>
            </a:r>
            <a:r>
              <a:rPr kumimoji="1" lang="ja-JP" altLang="en-US" sz="2400" dirty="0"/>
              <a:t>に共通する主要要素の層分類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0001616-1252-F5FD-C2BF-6CD3B08D4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87598"/>
              </p:ext>
            </p:extLst>
          </p:nvPr>
        </p:nvGraphicFramePr>
        <p:xfrm>
          <a:off x="225228" y="525984"/>
          <a:ext cx="11741544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995">
                  <a:extLst>
                    <a:ext uri="{9D8B030D-6E8A-4147-A177-3AD203B41FA5}">
                      <a16:colId xmlns:a16="http://schemas.microsoft.com/office/drawing/2014/main" val="1580725944"/>
                    </a:ext>
                  </a:extLst>
                </a:gridCol>
                <a:gridCol w="10364549">
                  <a:extLst>
                    <a:ext uri="{9D8B030D-6E8A-4147-A177-3AD203B41FA5}">
                      <a16:colId xmlns:a16="http://schemas.microsoft.com/office/drawing/2014/main" val="178590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層（共通）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 err="1"/>
                        <a:t>ask_actions_for_party</a:t>
                      </a:r>
                      <a:r>
                        <a:rPr kumimoji="1" lang="en-US" altLang="ja-JP" sz="1200" dirty="0"/>
                        <a:t>` / </a:t>
                      </a:r>
                      <a:r>
                        <a:rPr kumimoji="1" lang="en-US" altLang="ja-JP" sz="1200" b="1" dirty="0" err="1"/>
                        <a:t>pygame</a:t>
                      </a:r>
                      <a:r>
                        <a:rPr kumimoji="1" lang="ja-JP" altLang="en-US" sz="1200" b="1" dirty="0"/>
                        <a:t>入力ハンドラ</a:t>
                      </a:r>
                      <a:r>
                        <a:rPr kumimoji="1" lang="ja-JP" altLang="en-US" sz="1200" dirty="0"/>
                        <a:t> </a:t>
                      </a:r>
                      <a:r>
                        <a:rPr kumimoji="1" lang="en-US" altLang="ja-JP" sz="1200" dirty="0"/>
                        <a:t>/ Flask </a:t>
                      </a:r>
                      <a:r>
                        <a:rPr kumimoji="1" lang="en-US" altLang="ja-JP" sz="1200" b="1" dirty="0"/>
                        <a:t>JSON</a:t>
                      </a:r>
                      <a:r>
                        <a:rPr kumimoji="1" lang="ja-JP" altLang="en-US" sz="1200" b="1" dirty="0"/>
                        <a:t>受信</a:t>
                      </a:r>
                      <a:r>
                        <a:rPr kumimoji="1" lang="ja-JP" altLang="en-US" sz="1200" dirty="0"/>
                        <a:t>など、</a:t>
                      </a:r>
                      <a:r>
                        <a:rPr kumimoji="1" lang="en-US" altLang="ja-JP" sz="1200" b="1" dirty="0"/>
                        <a:t>UI</a:t>
                      </a:r>
                      <a:r>
                        <a:rPr kumimoji="1" lang="ja-JP" altLang="en-US" sz="1200" b="1" dirty="0"/>
                        <a:t>の具体実装は異なる</a:t>
                      </a:r>
                      <a:r>
                        <a:rPr kumimoji="1" lang="ja-JP" altLang="en-US" sz="1200" dirty="0"/>
                        <a:t>ため</a:t>
                      </a:r>
                      <a:r>
                        <a:rPr kumimoji="1" lang="ja-JP" altLang="en-US" sz="1200" b="1" dirty="0"/>
                        <a:t>「共通関数」は基本ありません</a:t>
                      </a:r>
                      <a:r>
                        <a:rPr kumimoji="1" lang="ja-JP" altLang="en-US" sz="1200" dirty="0"/>
                        <a:t>。</a:t>
                      </a:r>
                    </a:p>
                    <a:p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ただし</a:t>
                      </a:r>
                      <a:r>
                        <a:rPr kumimoji="1" lang="en-US" altLang="ja-JP" sz="1200" dirty="0"/>
                        <a:t>3</a:t>
                      </a:r>
                      <a:r>
                        <a:rPr kumimoji="1" lang="ja-JP" altLang="en-US" sz="1200" dirty="0"/>
                        <a:t>者とも、最終的には同じ </a:t>
                      </a:r>
                      <a:r>
                        <a:rPr kumimoji="1" lang="en-US" altLang="ja-JP" sz="1200" dirty="0"/>
                        <a:t>Application </a:t>
                      </a:r>
                      <a:r>
                        <a:rPr kumimoji="1" lang="ja-JP" altLang="en-US" sz="1200" dirty="0"/>
                        <a:t>層 </a:t>
                      </a:r>
                      <a:r>
                        <a:rPr kumimoji="1" lang="en-US" altLang="ja-JP" sz="1200" dirty="0"/>
                        <a:t>(`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BattleSession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*`) </a:t>
                      </a:r>
                      <a:r>
                        <a:rPr kumimoji="1" lang="ja-JP" altLang="en-US" sz="1200" dirty="0"/>
                        <a:t>に接続します。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5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Application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</a:t>
                      </a:r>
                      <a:endParaRPr kumimoji="1" lang="en-US" altLang="ja-JP" sz="12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（共通）</a:t>
                      </a:r>
                    </a:p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combat.runtime_state.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init_runtime_state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dirty="0"/>
                        <a:t>各エントリーポイント</a:t>
                      </a:r>
                      <a:r>
                        <a:rPr kumimoji="1" lang="ja-JP" altLang="en-US" sz="1200" b="1" dirty="0"/>
                        <a:t>起動時の初期状態生成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combat.usecases.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BattleSession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dirty="0"/>
                        <a:t>各</a:t>
                      </a:r>
                      <a:r>
                        <a:rPr kumimoji="1" lang="en-US" altLang="ja-JP" sz="1200" dirty="0"/>
                        <a:t>UI</a:t>
                      </a:r>
                      <a:r>
                        <a:rPr kumimoji="1" lang="ja-JP" altLang="en-US" sz="1200" dirty="0"/>
                        <a:t>が共有する戦闘ユースケース境界オブジェクト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combat.usecases.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と敵名から</a:t>
                      </a:r>
                      <a:r>
                        <a:rPr kumimoji="1" lang="ja-JP" altLang="en-US" sz="1200" b="1" dirty="0"/>
                        <a:t>戦闘セッションを構築</a:t>
                      </a:r>
                    </a:p>
                    <a:p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（補足）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dirty="0" err="1"/>
                        <a:t>execute_round</a:t>
                      </a:r>
                      <a:r>
                        <a:rPr kumimoji="1" lang="en-US" altLang="ja-JP" sz="1200" dirty="0"/>
                        <a:t>` / `</a:t>
                      </a:r>
                      <a:r>
                        <a:rPr kumimoji="1" lang="en-US" altLang="ja-JP" sz="1200" dirty="0" err="1"/>
                        <a:t>execute_round_dto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呼び出しの順序制御</a:t>
                      </a:r>
                    </a:p>
                    <a:p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 `main.py` </a:t>
                      </a:r>
                      <a:r>
                        <a:rPr kumimoji="1" lang="ja-JP" altLang="en-US" sz="1200" dirty="0"/>
                        <a:t>は直接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`flask_app.py` </a:t>
                      </a:r>
                      <a:r>
                        <a:rPr kumimoji="1" lang="ja-JP" altLang="en-US" sz="1200" dirty="0"/>
                        <a:t>は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/>
                        <a:t>execute_round_dto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`app_pygame.py` </a:t>
                      </a:r>
                      <a:r>
                        <a:rPr kumimoji="1" lang="ja-JP" altLang="en-US" sz="1200" dirty="0"/>
                        <a:t>側は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dirty="0" err="1"/>
                        <a:t>BattleController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経由で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ロジック層</a:t>
                      </a:r>
                      <a:endParaRPr kumimoji="1" lang="en-US" altLang="ja-JP" sz="12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（共通）</a:t>
                      </a:r>
                    </a:p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combat.char_build.build_party_members_from_save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dirty="0"/>
                        <a:t>セーブデータから</a:t>
                      </a:r>
                      <a:r>
                        <a:rPr kumimoji="1" lang="ja-JP" altLang="en-US" sz="1200" b="1" dirty="0"/>
                        <a:t>戦闘用パーティを構築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combat.enemy_selection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0" dirty="0" err="1"/>
                        <a:t>build_location_index</a:t>
                      </a:r>
                      <a:r>
                        <a:rPr kumimoji="1" lang="en-US" altLang="ja-JP" sz="1200" b="0" dirty="0"/>
                        <a:t>`, `</a:t>
                      </a:r>
                      <a:r>
                        <a:rPr kumimoji="1" lang="en-US" altLang="ja-JP" sz="1200" b="0" dirty="0" err="1"/>
                        <a:t>pick_enemy_names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ja-JP" altLang="en-US" sz="1200" b="1" dirty="0"/>
                        <a:t>敵選出系</a:t>
                      </a:r>
                      <a:r>
                        <a:rPr kumimoji="1" lang="ja-JP" altLang="en-US" sz="1200" dirty="0"/>
                        <a:t>）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combat.usecases.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en-US" altLang="ja-JP" sz="1200" b="1" dirty="0"/>
                        <a:t>1</a:t>
                      </a:r>
                      <a:r>
                        <a:rPr kumimoji="1" lang="ja-JP" altLang="en-US" sz="1200" b="1" dirty="0"/>
                        <a:t>ラウンド戦闘解決</a:t>
                      </a:r>
                      <a:r>
                        <a:rPr kumimoji="1" lang="ja-JP" altLang="en-US" sz="1200" dirty="0"/>
                        <a:t>の中核</a:t>
                      </a:r>
                    </a:p>
                    <a:p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 Flask </a:t>
                      </a:r>
                      <a:r>
                        <a:rPr kumimoji="1" lang="ja-JP" altLang="en-US" sz="1200" dirty="0"/>
                        <a:t>は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dirty="0" err="1"/>
                        <a:t>execute_round_dto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経由だが内部で同ラウンド実行ロジックに合流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combat.progression.</a:t>
                      </a:r>
                      <a:r>
                        <a:rPr kumimoji="1" lang="en-US" altLang="ja-JP" sz="1200" b="1" dirty="0" err="1"/>
                        <a:t>apply_victory_rewards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b="1" dirty="0"/>
                        <a:t>勝利報酬適用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データ層</a:t>
                      </a:r>
                      <a:endParaRPr kumimoji="1" lang="en-US" altLang="ja-JP" sz="12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（共通）</a:t>
                      </a:r>
                    </a:p>
                    <a:p>
                      <a:pPr algn="ctr"/>
                      <a:endParaRPr kumimoji="1" lang="ja-JP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combat.runtime_state.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dirty="0"/>
                        <a:t>全エントリーポイントで共有される</a:t>
                      </a:r>
                      <a:r>
                        <a:rPr kumimoji="1" lang="ja-JP" altLang="en-US" sz="1200" b="1" dirty="0"/>
                        <a:t>実行時データのコンテナ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combat.models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PartyMemberRuntime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EnemyRuntime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PlannedAction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SideTurnResult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など</a:t>
                      </a:r>
                    </a:p>
                    <a:p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戦闘セッションの入出力を構成する</a:t>
                      </a:r>
                      <a:r>
                        <a:rPr kumimoji="1" lang="ja-JP" altLang="en-US" sz="1200" b="1" dirty="0"/>
                        <a:t>共通データモデル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system.exp_system.</a:t>
                      </a:r>
                      <a:r>
                        <a:rPr kumimoji="1" lang="en-US" altLang="ja-JP" sz="1200" b="0" dirty="0" err="1"/>
                        <a:t>LevelTable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b="1" dirty="0"/>
                        <a:t>経験値テーブルのデータ表現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内でも使用）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03912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610085-6AE5-551A-D066-59AC65A0D64E}"/>
              </a:ext>
            </a:extLst>
          </p:cNvPr>
          <p:cNvSpPr txBox="1"/>
          <p:nvPr/>
        </p:nvSpPr>
        <p:spPr>
          <a:xfrm>
            <a:off x="225228" y="6105954"/>
            <a:ext cx="11790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## </a:t>
            </a:r>
            <a:r>
              <a:rPr lang="ja-JP" altLang="en-US" sz="1200" dirty="0"/>
              <a:t>どこまでを「共通」とみなすか</a:t>
            </a:r>
          </a:p>
          <a:p>
            <a:r>
              <a:rPr lang="en-US" altLang="ja-JP" sz="1200" dirty="0"/>
              <a:t>- </a:t>
            </a:r>
            <a:r>
              <a:rPr lang="ja-JP" altLang="en-US" sz="1200" dirty="0"/>
              <a:t>本書では「同一の関数</a:t>
            </a:r>
            <a:r>
              <a:rPr lang="en-US" altLang="ja-JP" sz="1200" dirty="0"/>
              <a:t>/</a:t>
            </a:r>
            <a:r>
              <a:rPr lang="ja-JP" altLang="en-US" sz="1200" dirty="0"/>
              <a:t>クラスを直接または明確な中継経路で再利用している」ものを共通と定義。</a:t>
            </a:r>
          </a:p>
          <a:p>
            <a:r>
              <a:rPr lang="en-US" altLang="ja-JP" sz="1200" dirty="0"/>
              <a:t>- </a:t>
            </a:r>
            <a:r>
              <a:rPr lang="ja-JP" altLang="en-US" sz="1200" dirty="0"/>
              <a:t>例えば </a:t>
            </a:r>
            <a:r>
              <a:rPr lang="en-US" altLang="ja-JP" sz="1200" dirty="0"/>
              <a:t>`</a:t>
            </a:r>
            <a:r>
              <a:rPr lang="en-US" altLang="ja-JP" sz="1200" dirty="0" err="1"/>
              <a:t>apply_victory_rewards</a:t>
            </a:r>
            <a:r>
              <a:rPr lang="en-US" altLang="ja-JP" sz="1200" dirty="0"/>
              <a:t>` </a:t>
            </a:r>
            <a:r>
              <a:rPr lang="ja-JP" altLang="en-US" sz="1200" dirty="0"/>
              <a:t>は、</a:t>
            </a:r>
            <a:r>
              <a:rPr lang="en-US" altLang="ja-JP" sz="1200" dirty="0"/>
              <a:t>CLI/</a:t>
            </a:r>
            <a:r>
              <a:rPr lang="en-US" altLang="ja-JP" sz="1200" dirty="0" err="1"/>
              <a:t>pygame</a:t>
            </a:r>
            <a:r>
              <a:rPr lang="en-US" altLang="ja-JP" sz="1200" dirty="0"/>
              <a:t>/Flask </a:t>
            </a:r>
            <a:r>
              <a:rPr lang="ja-JP" altLang="en-US" sz="1200" dirty="0"/>
              <a:t>のいずれの戦闘完了フローでも使用されるため共通扱い。</a:t>
            </a:r>
          </a:p>
        </p:txBody>
      </p:sp>
    </p:spTree>
    <p:extLst>
      <p:ext uri="{BB962C8B-B14F-4D97-AF65-F5344CB8AC3E}">
        <p14:creationId xmlns:p14="http://schemas.microsoft.com/office/powerpoint/2010/main" val="46988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9661B-F4F6-6351-2777-C98D0D2E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DBAF9D-9B26-FD31-A296-472E1125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09798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2400" dirty="0"/>
              <a:t>main.py </a:t>
            </a:r>
            <a:r>
              <a:rPr kumimoji="1" lang="ja-JP" altLang="en-US" sz="2400" dirty="0"/>
              <a:t>起点の主要コンポーネント層分類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7C77EDD-122B-1D80-C8DE-2B9A5045D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566"/>
              </p:ext>
            </p:extLst>
          </p:nvPr>
        </p:nvGraphicFramePr>
        <p:xfrm>
          <a:off x="225228" y="502920"/>
          <a:ext cx="11741544" cy="585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995">
                  <a:extLst>
                    <a:ext uri="{9D8B030D-6E8A-4147-A177-3AD203B41FA5}">
                      <a16:colId xmlns:a16="http://schemas.microsoft.com/office/drawing/2014/main" val="1580725944"/>
                    </a:ext>
                  </a:extLst>
                </a:gridCol>
                <a:gridCol w="10364549">
                  <a:extLst>
                    <a:ext uri="{9D8B030D-6E8A-4147-A177-3AD203B41FA5}">
                      <a16:colId xmlns:a16="http://schemas.microsoft.com/office/drawing/2014/main" val="178590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</a:t>
                      </a: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（表示・入出力（</a:t>
                      </a:r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CLI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）を担当）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>
                          <a:solidFill>
                            <a:srgbClr val="FF0000"/>
                          </a:solidFill>
                        </a:rPr>
                        <a:t>main.py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choose_location_console</a:t>
                      </a:r>
                      <a:r>
                        <a:rPr kumimoji="1" lang="en-US" altLang="ja-JP" sz="1200" dirty="0"/>
                        <a:t>()` </a:t>
                      </a:r>
                      <a:r>
                        <a:rPr kumimoji="1" lang="ja-JP" altLang="en-US" sz="1200" dirty="0"/>
                        <a:t>の </a:t>
                      </a:r>
                      <a:r>
                        <a:rPr kumimoji="1" lang="en-US" altLang="ja-JP" sz="1200" dirty="0"/>
                        <a:t>`print()`/`input()` </a:t>
                      </a:r>
                      <a:r>
                        <a:rPr kumimoji="1" lang="ja-JP" altLang="en-US" sz="1200" dirty="0"/>
                        <a:t>による</a:t>
                      </a:r>
                      <a:r>
                        <a:rPr kumimoji="1" lang="en-US" altLang="ja-JP" sz="1200" dirty="0"/>
                        <a:t>UI</a:t>
                      </a:r>
                    </a:p>
                    <a:p>
                      <a:r>
                        <a:rPr kumimoji="1" lang="en-US" altLang="ja-JP" sz="1200" dirty="0"/>
                        <a:t>  - `main()` </a:t>
                      </a:r>
                      <a:r>
                        <a:rPr kumimoji="1" lang="ja-JP" altLang="en-US" sz="1200" dirty="0"/>
                        <a:t>での </a:t>
                      </a:r>
                      <a:r>
                        <a:rPr kumimoji="1" lang="en-US" altLang="ja-JP" sz="1200" dirty="0"/>
                        <a:t>`print_*` </a:t>
                      </a:r>
                      <a:r>
                        <a:rPr kumimoji="1" lang="ja-JP" altLang="en-US" sz="1200" dirty="0"/>
                        <a:t>系デバッグ表示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debug_utils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print_party_debug_summary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print_inventory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print_enemies_status_compact</a:t>
                      </a:r>
                      <a:r>
                        <a:rPr kumimoji="1" lang="en-US" altLang="ja-JP" sz="1200" dirty="0"/>
                        <a:t>`,</a:t>
                      </a:r>
                    </a:p>
                    <a:p>
                      <a:r>
                        <a:rPr kumimoji="1" lang="en-US" altLang="ja-JP" sz="1200" dirty="0"/>
                        <a:t>    `</a:t>
                      </a:r>
                      <a:r>
                        <a:rPr kumimoji="1" lang="en-US" altLang="ja-JP" sz="1200" dirty="0" err="1"/>
                        <a:t>print_round_header_and_state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print_planned_actions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print_logs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print_end_reason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5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Application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層（ユースケース呼び出し順序・フェーズ進行・トランザクション境界を担当）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>
                          <a:solidFill>
                            <a:srgbClr val="FF0000"/>
                          </a:solidFill>
                        </a:rPr>
                        <a:t>main.py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`main()`</a:t>
                      </a:r>
                    </a:p>
                    <a:p>
                      <a:r>
                        <a:rPr kumimoji="1" lang="en-US" altLang="ja-JP" sz="1200" dirty="0"/>
                        <a:t>  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init_runtime_state</a:t>
                      </a:r>
                      <a:r>
                        <a:rPr kumimoji="1" lang="en-US" altLang="ja-JP" sz="1200" dirty="0"/>
                        <a:t>()` </a:t>
                      </a:r>
                      <a:r>
                        <a:rPr kumimoji="1" lang="ja-JP" altLang="en-US" sz="1200" dirty="0"/>
                        <a:t>で</a:t>
                      </a:r>
                      <a:r>
                        <a:rPr kumimoji="1" lang="ja-JP" altLang="en-US" sz="1200" b="1" dirty="0"/>
                        <a:t>状態初期化</a:t>
                      </a:r>
                    </a:p>
                    <a:p>
                      <a:r>
                        <a:rPr kumimoji="1" lang="ja-JP" altLang="en-US" sz="1200" dirty="0"/>
                        <a:t>    </a:t>
                      </a:r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場所選択に必要な事前計算（</a:t>
                      </a:r>
                      <a:r>
                        <a:rPr kumimoji="1" lang="ja-JP" altLang="en-US" sz="1200" b="1" dirty="0"/>
                        <a:t>平均レベル算出</a:t>
                      </a:r>
                      <a:r>
                        <a:rPr kumimoji="1" lang="ja-JP" altLang="en-US" sz="1200" dirty="0"/>
                        <a:t>）</a:t>
                      </a:r>
                    </a:p>
                    <a:p>
                      <a:r>
                        <a:rPr kumimoji="1" lang="ja-JP" altLang="en-US" sz="1200" dirty="0"/>
                        <a:t>    </a:t>
                      </a:r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()` </a:t>
                      </a:r>
                      <a:r>
                        <a:rPr kumimoji="1" lang="ja-JP" altLang="en-US" sz="1200" dirty="0"/>
                        <a:t>で</a:t>
                      </a:r>
                      <a:r>
                        <a:rPr kumimoji="1" lang="ja-JP" altLang="en-US" sz="1200" b="1" dirty="0"/>
                        <a:t>セッション構築</a:t>
                      </a:r>
                    </a:p>
                    <a:p>
                      <a:r>
                        <a:rPr kumimoji="1" lang="ja-JP" altLang="en-US" sz="1200" dirty="0"/>
                        <a:t>    </a:t>
                      </a:r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ターンループ内で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ask_actions_for_party</a:t>
                      </a:r>
                      <a:r>
                        <a:rPr kumimoji="1" lang="en-US" altLang="ja-JP" sz="1200" dirty="0"/>
                        <a:t>()` → `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()` </a:t>
                      </a:r>
                      <a:r>
                        <a:rPr kumimoji="1" lang="ja-JP" altLang="en-US" sz="1200" dirty="0"/>
                        <a:t>を反復</a:t>
                      </a:r>
                    </a:p>
                    <a:p>
                      <a:r>
                        <a:rPr kumimoji="1" lang="ja-JP" altLang="en-US" sz="1200" dirty="0"/>
                        <a:t>    </a:t>
                      </a:r>
                      <a:r>
                        <a:rPr kumimoji="1" lang="en-US" altLang="ja-JP" sz="1200" dirty="0"/>
                        <a:t>- </a:t>
                      </a:r>
                      <a:r>
                        <a:rPr kumimoji="1" lang="ja-JP" altLang="en-US" sz="1200" dirty="0"/>
                        <a:t>勝利時に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/>
                        <a:t>apply_victory_rewards</a:t>
                      </a:r>
                      <a:r>
                        <a:rPr kumimoji="1" lang="en-US" altLang="ja-JP" sz="1200" dirty="0"/>
                        <a:t>()` → </a:t>
                      </a:r>
                      <a:r>
                        <a:rPr kumimoji="1" lang="ja-JP" altLang="en-US" sz="1200" b="1" dirty="0"/>
                        <a:t>セーブ処理</a:t>
                      </a:r>
                    </a:p>
                    <a:p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choose_location_console</a:t>
                      </a:r>
                      <a:r>
                        <a:rPr kumimoji="1" lang="en-US" altLang="ja-JP" sz="1200" dirty="0"/>
                        <a:t>()`</a:t>
                      </a:r>
                    </a:p>
                    <a:p>
                      <a:r>
                        <a:rPr kumimoji="1" lang="en-US" altLang="ja-JP" sz="1200" dirty="0"/>
                        <a:t>    - </a:t>
                      </a:r>
                      <a:r>
                        <a:rPr kumimoji="1" lang="ja-JP" altLang="en-US" sz="1200" b="1" dirty="0"/>
                        <a:t>ロケーション候補一覧の提示</a:t>
                      </a:r>
                      <a:r>
                        <a:rPr kumimoji="1" lang="ja-JP" altLang="en-US" sz="1200" dirty="0"/>
                        <a:t>と</a:t>
                      </a:r>
                      <a:r>
                        <a:rPr kumimoji="1" lang="ja-JP" altLang="en-US" sz="1200" b="1" dirty="0"/>
                        <a:t>選択フロー管理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ロジック層</a:t>
                      </a: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（戦闘ルール、算出、判定等のドメインロジックを担当）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combat.enemy_selection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/>
                        <a:t>build_location_index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calc_party_avg_level</a:t>
                      </a:r>
                      <a:r>
                        <a:rPr kumimoji="1" lang="en-US" altLang="ja-JP" sz="1200" dirty="0"/>
                        <a:t>`,</a:t>
                      </a:r>
                    </a:p>
                    <a:p>
                      <a:r>
                        <a:rPr kumimoji="1" lang="ja-JP" altLang="en-US" sz="1200" dirty="0"/>
                        <a:t>    </a:t>
                      </a:r>
                      <a:r>
                        <a:rPr kumimoji="1" lang="en-US" altLang="ja-JP" sz="1200" dirty="0"/>
                        <a:t> `</a:t>
                      </a:r>
                      <a:r>
                        <a:rPr kumimoji="1" lang="en-US" altLang="ja-JP" sz="1200" dirty="0" err="1"/>
                        <a:t>danger_label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/>
                        <a:t>pick_enemy_names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combat.char_build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/>
                        <a:t>build_party_members_from_save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combat.usecases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/>
                        <a:t>execute_round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データ層（永続データの読込・保持、構造体定義を担当）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combat.runtime_state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 </a:t>
                      </a:r>
                      <a:r>
                        <a:rPr kumimoji="1" lang="ja-JP" altLang="en-US" sz="1200" dirty="0"/>
                        <a:t>（モンスター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 dirty="0"/>
                        <a:t>武器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 dirty="0"/>
                        <a:t>防具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 dirty="0"/>
                        <a:t>魔法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 dirty="0"/>
                        <a:t>アイテム</a:t>
                      </a:r>
                      <a:r>
                        <a:rPr kumimoji="1" lang="en-US" altLang="ja-JP" sz="1200" dirty="0"/>
                        <a:t>/</a:t>
                      </a:r>
                      <a:r>
                        <a:rPr kumimoji="1" lang="ja-JP" altLang="en-US" sz="1200" dirty="0"/>
                        <a:t>ジョブ</a:t>
                      </a:r>
                      <a:r>
                        <a:rPr kumimoji="1" lang="en-US" altLang="ja-JP" sz="1200" dirty="0"/>
                        <a:t>/save </a:t>
                      </a:r>
                      <a:r>
                        <a:rPr kumimoji="1" lang="ja-JP" altLang="en-US" sz="1200" dirty="0"/>
                        <a:t>を保持）</a:t>
                      </a:r>
                    </a:p>
                    <a:p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init_runtime_state</a:t>
                      </a:r>
                      <a:r>
                        <a:rPr kumimoji="1" lang="en-US" altLang="ja-JP" sz="1200" dirty="0"/>
                        <a:t>()`</a:t>
                      </a:r>
                    </a:p>
                    <a:p>
                      <a:r>
                        <a:rPr kumimoji="1" lang="en-US" altLang="ja-JP" sz="1200" dirty="0"/>
                        <a:t>   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JSON</a:t>
                      </a:r>
                      <a:r>
                        <a:rPr kumimoji="1" lang="ja-JP" altLang="en-US" sz="1200" dirty="0"/>
                        <a:t>群をロードして 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を構築）</a:t>
                      </a:r>
                    </a:p>
                    <a:p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assets.data.data_loader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load_monsters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load_weapons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load_armors</a:t>
                      </a:r>
                      <a:r>
                        <a:rPr kumimoji="1" lang="en-US" altLang="ja-JP" sz="1200" dirty="0"/>
                        <a:t>`,</a:t>
                      </a:r>
                    </a:p>
                    <a:p>
                      <a:r>
                        <a:rPr kumimoji="1" lang="en-US" altLang="ja-JP" sz="1200" dirty="0"/>
                        <a:t>    `</a:t>
                      </a:r>
                      <a:r>
                        <a:rPr kumimoji="1" lang="en-US" altLang="ja-JP" sz="1200" dirty="0" err="1"/>
                        <a:t>load_spells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load_items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load_jobs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load_savedata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0391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296BB9-49B1-08E8-C874-C44825E74CF7}"/>
              </a:ext>
            </a:extLst>
          </p:cNvPr>
          <p:cNvSpPr txBox="1"/>
          <p:nvPr/>
        </p:nvSpPr>
        <p:spPr>
          <a:xfrm>
            <a:off x="6095999" y="1695074"/>
            <a:ext cx="5870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save_prompt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prompt_save_progress_and_write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restore_backup_by_choice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</a:t>
            </a:r>
            <a:r>
              <a:rPr kumimoji="1" lang="ja-JP" altLang="en-US" sz="1200" dirty="0"/>
              <a:t>勝利後の保存可否確認</a:t>
            </a:r>
            <a:r>
              <a:rPr kumimoji="1" lang="en-US" altLang="ja-JP" sz="1200" dirty="0"/>
              <a:t>/</a:t>
            </a:r>
            <a:r>
              <a:rPr kumimoji="1" lang="ja-JP" altLang="en-US" sz="1200" dirty="0"/>
              <a:t>バックアップ復元フローを提供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74A991-3268-4D63-1FFC-06CFDEE4CC78}"/>
              </a:ext>
            </a:extLst>
          </p:cNvPr>
          <p:cNvSpPr txBox="1"/>
          <p:nvPr/>
        </p:nvSpPr>
        <p:spPr>
          <a:xfrm>
            <a:off x="6095999" y="3405936"/>
            <a:ext cx="58707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combat.input_ui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ask_actions_for_party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（入力自体は</a:t>
            </a:r>
            <a:r>
              <a:rPr kumimoji="1" lang="en-US" altLang="ja-JP" sz="1200" dirty="0"/>
              <a:t>UI</a:t>
            </a:r>
            <a:r>
              <a:rPr kumimoji="1" lang="ja-JP" altLang="en-US" sz="1200" dirty="0"/>
              <a:t>由来だが、コマンド候補や対象判定など戦闘ルールに密接）</a:t>
            </a:r>
          </a:p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combat.progression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b="1" dirty="0" err="1"/>
              <a:t>apply_victory_rewards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debug_utils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check_battle_end_before_round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</a:t>
            </a:r>
            <a:r>
              <a:rPr kumimoji="1" lang="ja-JP" altLang="en-US" sz="1200" b="1" dirty="0"/>
              <a:t>終了条件判定</a:t>
            </a:r>
            <a:r>
              <a:rPr kumimoji="1" lang="ja-JP" altLang="en-US" sz="1200" dirty="0"/>
              <a:t>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B9E94F-24E3-C736-BCB0-2CB9855CB2A1}"/>
              </a:ext>
            </a:extLst>
          </p:cNvPr>
          <p:cNvSpPr txBox="1"/>
          <p:nvPr/>
        </p:nvSpPr>
        <p:spPr>
          <a:xfrm>
            <a:off x="6095999" y="4807116"/>
            <a:ext cx="5870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combat.models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</a:t>
            </a:r>
            <a:r>
              <a:rPr kumimoji="1" lang="ja-JP" altLang="en-US" sz="1200" b="1" dirty="0"/>
              <a:t>主要データクラス</a:t>
            </a:r>
            <a:r>
              <a:rPr kumimoji="1" lang="ja-JP" altLang="en-US" sz="1200" dirty="0"/>
              <a:t>（</a:t>
            </a:r>
            <a:r>
              <a:rPr kumimoji="1" lang="en-US" altLang="ja-JP" sz="1200" dirty="0"/>
              <a:t>`</a:t>
            </a:r>
            <a:r>
              <a:rPr kumimoji="1" lang="en-US" altLang="ja-JP" sz="1200" dirty="0" err="1"/>
              <a:t>PartyMemberRuntime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EnemyRuntime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PlannedAction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SideTurnResult</a:t>
            </a:r>
            <a:r>
              <a:rPr kumimoji="1" lang="en-US" altLang="ja-JP" sz="1200" dirty="0"/>
              <a:t>` </a:t>
            </a:r>
            <a:r>
              <a:rPr kumimoji="1" lang="ja-JP" altLang="en-US" sz="1200" dirty="0"/>
              <a:t>など）</a:t>
            </a:r>
          </a:p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system.exp_system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LevelTable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LevelStatus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</a:t>
            </a:r>
            <a:r>
              <a:rPr kumimoji="1" lang="ja-JP" altLang="en-US" sz="1200" b="1" dirty="0"/>
              <a:t>レベル</a:t>
            </a:r>
            <a:r>
              <a:rPr kumimoji="1" lang="en-US" altLang="ja-JP" sz="1200" b="1" dirty="0"/>
              <a:t>/</a:t>
            </a:r>
            <a:r>
              <a:rPr kumimoji="1" lang="ja-JP" altLang="en-US" sz="1200" b="1" dirty="0"/>
              <a:t>経験値テーブルの読込・状態表現</a:t>
            </a:r>
            <a:r>
              <a:rPr kumimoji="1" lang="ja-JP" altLang="en-US" sz="1200" dirty="0"/>
              <a:t>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C79C214-7FB3-E2DF-5A7C-CA9A1D1CAC61}"/>
              </a:ext>
            </a:extLst>
          </p:cNvPr>
          <p:cNvSpPr txBox="1"/>
          <p:nvPr/>
        </p:nvSpPr>
        <p:spPr>
          <a:xfrm>
            <a:off x="6095999" y="538266"/>
            <a:ext cx="58707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combat.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input_ui</a:t>
            </a:r>
            <a:r>
              <a:rPr kumimoji="1" lang="en-US" altLang="ja-JP" sz="1200" dirty="0"/>
              <a:t>`</a:t>
            </a:r>
          </a:p>
          <a:p>
            <a:r>
              <a:rPr kumimoji="1" lang="en-US" altLang="ja-JP" sz="1200" dirty="0"/>
              <a:t>  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ask_actions_for_party</a:t>
            </a:r>
            <a:r>
              <a:rPr kumimoji="1" lang="en-US" altLang="ja-JP" sz="1200" dirty="0"/>
              <a:t>(..., </a:t>
            </a:r>
            <a:r>
              <a:rPr kumimoji="1" lang="en-US" altLang="ja-JP" sz="1200" dirty="0" err="1"/>
              <a:t>input_func</a:t>
            </a:r>
            <a:r>
              <a:rPr kumimoji="1" lang="en-US" altLang="ja-JP" sz="1200" dirty="0"/>
              <a:t>=input, </a:t>
            </a:r>
            <a:r>
              <a:rPr kumimoji="1" lang="en-US" altLang="ja-JP" sz="1200" dirty="0" err="1"/>
              <a:t>output_func</a:t>
            </a:r>
            <a:r>
              <a:rPr kumimoji="1" lang="en-US" altLang="ja-JP" sz="1200" dirty="0"/>
              <a:t>=print)` </a:t>
            </a:r>
            <a:r>
              <a:rPr kumimoji="1" lang="ja-JP" altLang="en-US" sz="1200" dirty="0"/>
              <a:t>の</a:t>
            </a:r>
            <a:r>
              <a:rPr kumimoji="1" lang="en-US" altLang="ja-JP" sz="1200" dirty="0"/>
              <a:t>CLI</a:t>
            </a:r>
            <a:r>
              <a:rPr kumimoji="1" lang="ja-JP" altLang="en-US" sz="1200" dirty="0"/>
              <a:t>入出力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9CF966-3B5A-CE1B-53F9-A93568C583ED}"/>
              </a:ext>
            </a:extLst>
          </p:cNvPr>
          <p:cNvSpPr txBox="1"/>
          <p:nvPr/>
        </p:nvSpPr>
        <p:spPr>
          <a:xfrm>
            <a:off x="225228" y="6355080"/>
            <a:ext cx="11790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## </a:t>
            </a:r>
            <a:r>
              <a:rPr lang="ja-JP" altLang="en-US" sz="1200" dirty="0"/>
              <a:t>補足（境界の見方）</a:t>
            </a:r>
            <a:r>
              <a:rPr lang="en-US" altLang="ja-JP" sz="1200" dirty="0"/>
              <a:t>- `</a:t>
            </a:r>
            <a:r>
              <a:rPr lang="en-US" altLang="ja-JP" sz="1200" dirty="0" err="1"/>
              <a:t>combat.</a:t>
            </a:r>
            <a:r>
              <a:rPr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input_ui</a:t>
            </a:r>
            <a:r>
              <a:rPr lang="en-US" altLang="ja-JP" sz="1200" dirty="0"/>
              <a:t>` </a:t>
            </a:r>
            <a:r>
              <a:rPr lang="ja-JP" altLang="en-US" sz="1200" dirty="0"/>
              <a:t>は **</a:t>
            </a:r>
            <a:r>
              <a:rPr lang="en-US" altLang="ja-JP" sz="1200" dirty="0"/>
              <a:t>UI</a:t>
            </a:r>
            <a:r>
              <a:rPr lang="ja-JP" altLang="en-US" sz="1200" dirty="0"/>
              <a:t>（入出力）とロジック（行動入力の妥当性）**が混ざりやすい境界モジュール。このため「</a:t>
            </a:r>
            <a:r>
              <a:rPr lang="en-US" altLang="ja-JP" sz="1200" dirty="0"/>
              <a:t>UI</a:t>
            </a:r>
            <a:r>
              <a:rPr lang="ja-JP" altLang="en-US" sz="1200" dirty="0"/>
              <a:t>層にもロジック層にも接続する境界」として扱うと整理しやすいです。</a:t>
            </a:r>
            <a:r>
              <a:rPr lang="en-US" altLang="ja-JP" sz="1200" dirty="0"/>
              <a:t>- `</a:t>
            </a:r>
            <a:r>
              <a:rPr lang="en-US" altLang="ja-JP" sz="1200" b="1" dirty="0">
                <a:solidFill>
                  <a:srgbClr val="FF0000"/>
                </a:solidFill>
              </a:rPr>
              <a:t>main.py</a:t>
            </a:r>
            <a:r>
              <a:rPr lang="en-US" altLang="ja-JP" sz="1200" dirty="0"/>
              <a:t>` </a:t>
            </a:r>
            <a:r>
              <a:rPr lang="ja-JP" altLang="en-US" sz="1200" dirty="0"/>
              <a:t>はフレームワーク非依存なオーケストレータで、設計上は </a:t>
            </a:r>
            <a:r>
              <a:rPr lang="en-US" altLang="ja-JP" sz="1200" dirty="0"/>
              <a:t>Application</a:t>
            </a:r>
            <a:r>
              <a:rPr lang="ja-JP" altLang="en-US" sz="1200" dirty="0"/>
              <a:t>層の中心に位置づきます。</a:t>
            </a:r>
          </a:p>
        </p:txBody>
      </p:sp>
    </p:spTree>
    <p:extLst>
      <p:ext uri="{BB962C8B-B14F-4D97-AF65-F5344CB8AC3E}">
        <p14:creationId xmlns:p14="http://schemas.microsoft.com/office/powerpoint/2010/main" val="377222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92B0-F579-1060-EC79-99532A20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BD3E17-3E44-73AC-8B37-39CC09C3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09798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2400" dirty="0"/>
              <a:t>app_pygame.py </a:t>
            </a:r>
            <a:r>
              <a:rPr kumimoji="1" lang="ja-JP" altLang="en-US" sz="2400" dirty="0"/>
              <a:t>起点の主要コンポーネント層分類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33B95DE-4FEF-BD50-041F-4A582C122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431241"/>
              </p:ext>
            </p:extLst>
          </p:nvPr>
        </p:nvGraphicFramePr>
        <p:xfrm>
          <a:off x="225228" y="502920"/>
          <a:ext cx="11741544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995">
                  <a:extLst>
                    <a:ext uri="{9D8B030D-6E8A-4147-A177-3AD203B41FA5}">
                      <a16:colId xmlns:a16="http://schemas.microsoft.com/office/drawing/2014/main" val="1580725944"/>
                    </a:ext>
                  </a:extLst>
                </a:gridCol>
                <a:gridCol w="10364549">
                  <a:extLst>
                    <a:ext uri="{9D8B030D-6E8A-4147-A177-3AD203B41FA5}">
                      <a16:colId xmlns:a16="http://schemas.microsoft.com/office/drawing/2014/main" val="178590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</a:t>
                      </a: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（描画・入力・</a:t>
                      </a:r>
                      <a:r>
                        <a:rPr kumimoji="1" lang="en-US" altLang="ja-JP" sz="1200" b="1" dirty="0" err="1">
                          <a:solidFill>
                            <a:schemeClr val="bg1"/>
                          </a:solidFill>
                        </a:rPr>
                        <a:t>pygame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依存）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ui_pygame.battle_flow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run_one_battle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b="1" dirty="0" err="1"/>
                        <a:t>pygame</a:t>
                      </a:r>
                      <a:r>
                        <a:rPr kumimoji="1" lang="ja-JP" altLang="en-US" sz="1200" b="1" dirty="0"/>
                        <a:t>イベント処理、描画呼び出し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ui_pygame.input_handler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handle_keydown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ja-JP" altLang="en-US" sz="1200" b="1" dirty="0"/>
                        <a:t>入力モード別ディスパッチ</a:t>
                      </a:r>
                      <a:r>
                        <a:rPr kumimoji="1" lang="ja-JP" altLang="en-US" sz="1200" dirty="0"/>
                        <a:t>）</a:t>
                      </a:r>
                      <a:endParaRPr kumimoji="1" lang="en-US" altLang="ja-JP" sz="1200" dirty="0"/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ui_pygame.enemy_flow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dirty="0" err="1"/>
                        <a:t>choose_location_group_pygame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choose_location_floor_pygame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5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Application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層（ユースケース実行・フロー制御）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b="1" dirty="0">
                          <a:solidFill>
                            <a:srgbClr val="FF0000"/>
                          </a:solidFill>
                        </a:rPr>
                        <a:t>app_pygame.py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</a:t>
                      </a:r>
                      <a:r>
                        <a:rPr kumimoji="1" lang="ja-JP" altLang="en-US" sz="1200" dirty="0"/>
                        <a:t>エントリーポイント（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/>
                        <a:t>BattleAppConfig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生成→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</a:rPr>
                        <a:t>run_pygame_app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呼び出し）</a:t>
                      </a:r>
                      <a:endParaRPr kumimoji="1" lang="en-US" altLang="ja-JP" sz="1200" dirty="0"/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ui_pygame.app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rgbClr val="FF0000"/>
                          </a:solidFill>
                        </a:rPr>
                        <a:t>run_pygame_app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b="1" dirty="0" err="1"/>
                        <a:t>pygame</a:t>
                      </a:r>
                      <a:r>
                        <a:rPr kumimoji="1" lang="ja-JP" altLang="en-US" sz="1200" b="1" dirty="0"/>
                        <a:t>初期化</a:t>
                      </a:r>
                      <a:r>
                        <a:rPr kumimoji="1" lang="en-US" altLang="ja-JP" sz="1200" b="1" dirty="0"/>
                        <a:t>/</a:t>
                      </a:r>
                      <a:r>
                        <a:rPr kumimoji="1" lang="ja-JP" altLang="en-US" sz="1200" b="1" dirty="0"/>
                        <a:t>終了、ゲームループ起動</a:t>
                      </a:r>
                      <a:r>
                        <a:rPr kumimoji="1" lang="ja-JP" altLang="en-US" sz="1200" dirty="0"/>
                        <a:t>）</a:t>
                      </a:r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ui_pygame.game_loop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rgbClr val="FF0000"/>
                          </a:solidFill>
                        </a:rPr>
                        <a:t>run_game_loop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en-US" altLang="ja-JP" sz="1200" b="1" dirty="0" err="1">
                          <a:solidFill>
                            <a:srgbClr val="FF0000"/>
                          </a:solidFill>
                        </a:rPr>
                        <a:t>GameFlowController</a:t>
                      </a:r>
                      <a:r>
                        <a:rPr kumimoji="1" lang="en-US" altLang="ja-JP" sz="1200" dirty="0"/>
                        <a:t>`</a:t>
                      </a:r>
                      <a:r>
                        <a:rPr kumimoji="1" lang="ja-JP" altLang="en-US" sz="1200" dirty="0"/>
                        <a:t>起動）</a:t>
                      </a:r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ui_pygame.game_flow_controller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rgbClr val="FF0000"/>
                          </a:solidFill>
                        </a:rPr>
                        <a:t>GameFlowController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`run`, `</a:t>
                      </a:r>
                      <a:r>
                        <a:rPr kumimoji="1" lang="en-US" altLang="ja-JP" sz="1200" dirty="0" err="1"/>
                        <a:t>prepare_battle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build_battle_context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handle_victory</a:t>
                      </a:r>
                      <a:r>
                        <a:rPr kumimoji="1" lang="en-US" altLang="ja-JP" sz="12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ロジック層</a:t>
                      </a:r>
                    </a:p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（ドメイン</a:t>
                      </a:r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業務ルール）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combat.usecases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BattleSession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>
                          <a:solidFill>
                            <a:schemeClr val="tx1"/>
                          </a:solidFill>
                        </a:rPr>
                        <a:t>execute_round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</a:t>
                      </a:r>
                      <a:r>
                        <a:rPr kumimoji="1" lang="en-US" altLang="ja-JP" sz="12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ui_pygame.logic</a:t>
                      </a:r>
                      <a:r>
                        <a:rPr kumimoji="1" lang="en-US" altLang="ja-JP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`</a:t>
                      </a:r>
                    </a:p>
                    <a:p>
                      <a:pPr algn="l"/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  - `</a:t>
                      </a:r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</a:rPr>
                        <a:t>reset_target_flags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`, `</a:t>
                      </a:r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</a:rPr>
                        <a:t>make_planned_action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`, `</a:t>
                      </a:r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</a:rPr>
                        <a:t>get_job_commands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`, `</a:t>
                      </a:r>
                      <a:r>
                        <a:rPr kumimoji="1" lang="en-US" altLang="ja-JP" sz="1200" b="0" dirty="0" err="1">
                          <a:solidFill>
                            <a:schemeClr val="tx1"/>
                          </a:solidFill>
                        </a:rPr>
                        <a:t>build_item_candidates_for_battle</a:t>
                      </a:r>
                      <a:r>
                        <a:rPr kumimoji="1" lang="en-US" altLang="ja-JP" sz="1200" b="0" dirty="0">
                          <a:solidFill>
                            <a:schemeClr val="tx1"/>
                          </a:solidFill>
                        </a:rPr>
                        <a:t>`</a:t>
                      </a:r>
                      <a:endParaRPr kumimoji="1" lang="en-US" altLang="ja-JP" sz="1200" dirty="0"/>
                    </a:p>
                    <a:p>
                      <a:pPr algn="l"/>
                      <a:r>
                        <a:rPr kumimoji="1" lang="en-US" altLang="ja-JP" sz="1200" dirty="0"/>
                        <a:t>- `combat` </a:t>
                      </a:r>
                      <a:r>
                        <a:rPr kumimoji="1" lang="ja-JP" altLang="en-US" sz="1200" dirty="0"/>
                        <a:t>配下の</a:t>
                      </a:r>
                      <a:r>
                        <a:rPr kumimoji="1" lang="ja-JP" altLang="en-US" sz="1200" b="1" dirty="0"/>
                        <a:t>計算</a:t>
                      </a:r>
                      <a:r>
                        <a:rPr kumimoji="1" lang="en-US" altLang="ja-JP" sz="1200" b="1" dirty="0"/>
                        <a:t>/</a:t>
                      </a:r>
                      <a:r>
                        <a:rPr kumimoji="1" lang="ja-JP" altLang="en-US" sz="1200" b="1" dirty="0"/>
                        <a:t>判定関数</a:t>
                      </a:r>
                    </a:p>
                    <a:p>
                      <a:pPr algn="l"/>
                      <a:r>
                        <a:rPr kumimoji="1" lang="ja-JP" altLang="en-US" sz="1200" dirty="0"/>
                        <a:t>  </a:t>
                      </a:r>
                      <a:r>
                        <a:rPr kumimoji="1" lang="en-US" altLang="ja-JP" sz="1200" dirty="0"/>
                        <a:t>-`</a:t>
                      </a:r>
                      <a:r>
                        <a:rPr kumimoji="1" lang="en-US" altLang="ja-JP" sz="1200" dirty="0" err="1"/>
                        <a:t>compute_character_final_stats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normalize_battle_command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is_out_of_battle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/>
                        <a:t>apply_victory_rewards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expand_spells_for_summons</a:t>
                      </a:r>
                      <a:r>
                        <a:rPr kumimoji="1" lang="en-US" altLang="ja-JP" sz="1200" dirty="0"/>
                        <a:t>` </a:t>
                      </a:r>
                      <a:r>
                        <a:rPr kumimoji="1" lang="ja-JP" altLang="en-US" sz="1200" dirty="0"/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データ層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assets.data.data_loader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`_</a:t>
                      </a:r>
                      <a:r>
                        <a:rPr kumimoji="1" lang="en-US" altLang="ja-JP" sz="1200" dirty="0" err="1"/>
                        <a:t>load_named_index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load_monsters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load_weapons</a:t>
                      </a:r>
                      <a:r>
                        <a:rPr kumimoji="1" lang="en-US" altLang="ja-JP" sz="1200" dirty="0"/>
                        <a:t>`,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  `</a:t>
                      </a:r>
                      <a:r>
                        <a:rPr kumimoji="1" lang="en-US" altLang="ja-JP" sz="1200" dirty="0" err="1"/>
                        <a:t>load_armors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load_spells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load_items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load_jobs</a:t>
                      </a:r>
                      <a:r>
                        <a:rPr kumimoji="1" lang="en-US" altLang="ja-JP" sz="1200" dirty="0"/>
                        <a:t>`,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  `</a:t>
                      </a:r>
                      <a:r>
                        <a:rPr kumimoji="1" lang="en-US" altLang="ja-JP" sz="1200" dirty="0" err="1"/>
                        <a:t>load_savedata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dirty="0" err="1"/>
                        <a:t>load_explicit_groups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- `</a:t>
                      </a:r>
                      <a:r>
                        <a:rPr kumimoji="1" lang="en-US" altLang="ja-JP" sz="1200" dirty="0" err="1"/>
                        <a:t>combat.runtime_state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200" dirty="0"/>
                        <a:t>  -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200" dirty="0"/>
                        <a:t>`, `</a:t>
                      </a:r>
                      <a:r>
                        <a:rPr kumimoji="1" lang="en-US" altLang="ja-JP" sz="1200" b="1" dirty="0" err="1">
                          <a:solidFill>
                            <a:schemeClr val="accent1"/>
                          </a:solidFill>
                        </a:rPr>
                        <a:t>init_runtime_state</a:t>
                      </a:r>
                      <a:r>
                        <a:rPr kumimoji="1" lang="en-US" altLang="ja-JP" sz="1200" dirty="0"/>
                        <a:t>`</a:t>
                      </a:r>
                    </a:p>
                    <a:p>
                      <a:pPr algn="l"/>
                      <a:endParaRPr kumimoji="1" lang="en-US" altLang="ja-JP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03912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676CCF-6B5E-0602-092B-9B43580F80F9}"/>
              </a:ext>
            </a:extLst>
          </p:cNvPr>
          <p:cNvSpPr txBox="1"/>
          <p:nvPr/>
        </p:nvSpPr>
        <p:spPr>
          <a:xfrm>
            <a:off x="7301274" y="1705078"/>
            <a:ext cx="46654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ui_pygame.game_flow_service</a:t>
            </a:r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prepare_battle_resources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select_enemy_names_from_groups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ui_pygame.battle_context</a:t>
            </a:r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b="1" dirty="0" err="1"/>
              <a:t>BattleContext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</a:t>
            </a:r>
            <a:r>
              <a:rPr kumimoji="1" lang="ja-JP" altLang="en-US" sz="1200" b="1" dirty="0"/>
              <a:t>戦闘ユースケースへ渡す依存束</a:t>
            </a:r>
            <a:r>
              <a:rPr kumimoji="1" lang="ja-JP" altLang="en-US" sz="1200" dirty="0"/>
              <a:t>）</a:t>
            </a:r>
          </a:p>
          <a:p>
            <a:pPr algn="l"/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ui_pygame.controller</a:t>
            </a:r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b="1" dirty="0" err="1"/>
              <a:t>BattleController.update</a:t>
            </a:r>
            <a:r>
              <a:rPr kumimoji="1" lang="en-US" altLang="ja-JP" sz="1200" dirty="0"/>
              <a:t>`, `_</a:t>
            </a:r>
            <a:r>
              <a:rPr kumimoji="1" lang="en-US" altLang="ja-JP" sz="1200" dirty="0" err="1"/>
              <a:t>resolve_one_round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</a:t>
            </a:r>
            <a:r>
              <a:rPr kumimoji="1" lang="en-US" altLang="ja-JP" sz="1200" b="1" dirty="0"/>
              <a:t>UI</a:t>
            </a:r>
            <a:r>
              <a:rPr kumimoji="1" lang="ja-JP" altLang="en-US" sz="1200" b="1" dirty="0"/>
              <a:t>状態とドメイン実行の橋渡し</a:t>
            </a:r>
            <a:r>
              <a:rPr kumimoji="1" lang="ja-JP" altLang="en-US" sz="1200" dirty="0"/>
              <a:t>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892D96-1201-6358-0E0B-4705A40C13FE}"/>
              </a:ext>
            </a:extLst>
          </p:cNvPr>
          <p:cNvSpPr txBox="1"/>
          <p:nvPr/>
        </p:nvSpPr>
        <p:spPr>
          <a:xfrm>
            <a:off x="6707147" y="502920"/>
            <a:ext cx="5259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ui_pygame.render</a:t>
            </a:r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.*`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draw_header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draw_enemy_panel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draw_party_panel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draw_log_panel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draw_command_panel</a:t>
            </a:r>
            <a:r>
              <a:rPr kumimoji="1" lang="en-US" altLang="ja-JP" sz="1200" dirty="0"/>
              <a:t>` </a:t>
            </a:r>
            <a:r>
              <a:rPr kumimoji="1" lang="ja-JP" altLang="en-US" sz="1200" dirty="0"/>
              <a:t>等</a:t>
            </a:r>
            <a:endParaRPr kumimoji="1" lang="en-US" altLang="ja-JP" sz="1200" dirty="0"/>
          </a:p>
          <a:p>
            <a:pPr algn="l"/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200" b="1" dirty="0" err="1">
                <a:solidFill>
                  <a:schemeClr val="accent6">
                    <a:lumMod val="75000"/>
                  </a:schemeClr>
                </a:solidFill>
              </a:rPr>
              <a:t>ui_pygame.victory_flow</a:t>
            </a:r>
            <a:r>
              <a:rPr kumimoji="1" lang="en-US" altLang="ja-JP" sz="1200" b="1" dirty="0">
                <a:solidFill>
                  <a:schemeClr val="accent6">
                    <a:lumMod val="75000"/>
                  </a:schemeClr>
                </a:solidFill>
              </a:rPr>
              <a:t>`, </a:t>
            </a:r>
            <a:r>
              <a:rPr kumimoji="1" lang="en-US" altLang="ja-JP" sz="1200" dirty="0"/>
              <a:t>`</a:t>
            </a:r>
            <a:r>
              <a:rPr kumimoji="1" lang="en-US" altLang="ja-JP" sz="1200" dirty="0" err="1"/>
              <a:t>ui_pygame.gameover_flow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dirty="0"/>
              <a:t>  - </a:t>
            </a:r>
            <a:r>
              <a:rPr kumimoji="1" lang="ja-JP" altLang="en-US" sz="1200" b="1" dirty="0"/>
              <a:t>勝利画面</a:t>
            </a:r>
            <a:r>
              <a:rPr kumimoji="1" lang="en-US" altLang="ja-JP" sz="1200" b="1" dirty="0"/>
              <a:t>/</a:t>
            </a:r>
            <a:r>
              <a:rPr kumimoji="1" lang="ja-JP" altLang="en-US" sz="1200" b="1" dirty="0"/>
              <a:t>ゲームオーバー画面の表示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E90D59-BFF0-7DA8-9196-FCD51DE103B7}"/>
              </a:ext>
            </a:extLst>
          </p:cNvPr>
          <p:cNvSpPr txBox="1"/>
          <p:nvPr/>
        </p:nvSpPr>
        <p:spPr>
          <a:xfrm>
            <a:off x="6897454" y="4808008"/>
            <a:ext cx="50693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FontTx/>
              <a:buNone/>
            </a:pPr>
            <a:r>
              <a:rPr kumimoji="1" lang="en-US" altLang="ja-JP" sz="1200" dirty="0"/>
              <a:t>-</a:t>
            </a:r>
            <a:r>
              <a:rPr kumimoji="1" lang="ja-JP" altLang="en-US" sz="1200" dirty="0"/>
              <a:t> </a:t>
            </a:r>
            <a:r>
              <a:rPr kumimoji="1" lang="en-US" altLang="ja-JP" sz="1200" dirty="0"/>
              <a:t>`</a:t>
            </a:r>
            <a:r>
              <a:rPr kumimoji="1" lang="en-US" altLang="ja-JP" sz="1200" dirty="0" err="1"/>
              <a:t>combat.models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dirty="0"/>
              <a:t>- </a:t>
            </a:r>
            <a:r>
              <a:rPr kumimoji="1" lang="ja-JP" altLang="en-US" sz="1200" b="1" dirty="0"/>
              <a:t>主要データクラス</a:t>
            </a:r>
            <a:r>
              <a:rPr kumimoji="1" lang="ja-JP" altLang="en-US" sz="1200" dirty="0"/>
              <a:t>（</a:t>
            </a:r>
            <a:r>
              <a:rPr kumimoji="1" lang="en-US" altLang="ja-JP" sz="1200" dirty="0"/>
              <a:t>`</a:t>
            </a:r>
            <a:r>
              <a:rPr kumimoji="1" lang="en-US" altLang="ja-JP" sz="1200" dirty="0" err="1"/>
              <a:t>PartyMemberRuntime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EnemyRuntime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PlannedAction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BattleActorState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SideTurnResult</a:t>
            </a:r>
            <a:r>
              <a:rPr kumimoji="1" lang="en-US" altLang="ja-JP" sz="1200" dirty="0"/>
              <a:t>` </a:t>
            </a:r>
            <a:r>
              <a:rPr kumimoji="1" lang="ja-JP" altLang="en-US" sz="1200" dirty="0"/>
              <a:t>など）</a:t>
            </a:r>
            <a:endParaRPr kumimoji="1" lang="en-US" altLang="ja-JP" sz="1200" dirty="0"/>
          </a:p>
          <a:p>
            <a:pPr algn="l"/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system.exp_system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LevelTable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LevelStatus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dirty="0"/>
              <a:t>- `</a:t>
            </a:r>
            <a:r>
              <a:rPr kumimoji="1" lang="en-US" altLang="ja-JP" sz="1200" dirty="0" err="1"/>
              <a:t>system.cp_system</a:t>
            </a:r>
            <a:r>
              <a:rPr kumimoji="1" lang="en-US" altLang="ja-JP" sz="1200" dirty="0"/>
              <a:t>`</a:t>
            </a:r>
          </a:p>
          <a:p>
            <a:pPr algn="l"/>
            <a:r>
              <a:rPr kumimoji="1" lang="en-US" altLang="ja-JP" sz="1200" dirty="0"/>
              <a:t>  - `</a:t>
            </a:r>
            <a:r>
              <a:rPr kumimoji="1" lang="en-US" altLang="ja-JP" sz="1200" dirty="0" err="1"/>
              <a:t>CPStatus</a:t>
            </a:r>
            <a:r>
              <a:rPr kumimoji="1" lang="en-US" altLang="ja-JP" sz="1200" dirty="0"/>
              <a:t>`, `</a:t>
            </a:r>
            <a:r>
              <a:rPr kumimoji="1" lang="en-US" altLang="ja-JP" sz="1200" dirty="0" err="1"/>
              <a:t>load_job_attribution</a:t>
            </a:r>
            <a:r>
              <a:rPr kumimoji="1" lang="en-US" altLang="ja-JP" sz="1200" dirty="0"/>
              <a:t>`</a:t>
            </a:r>
            <a:r>
              <a:rPr kumimoji="1" lang="ja-JP" altLang="en-US" sz="1200" dirty="0"/>
              <a:t>（</a:t>
            </a:r>
            <a:r>
              <a:rPr kumimoji="1" lang="en-US" altLang="ja-JP" sz="1200" dirty="0"/>
              <a:t>CSV</a:t>
            </a:r>
            <a:r>
              <a:rPr kumimoji="1" lang="ja-JP" altLang="en-US" sz="1200" dirty="0"/>
              <a:t>読込）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B6C1B09-1C64-A2A1-D40F-9067FFABDEA8}"/>
              </a:ext>
            </a:extLst>
          </p:cNvPr>
          <p:cNvSpPr txBox="1"/>
          <p:nvPr/>
        </p:nvSpPr>
        <p:spPr>
          <a:xfrm>
            <a:off x="225228" y="6288560"/>
            <a:ext cx="11790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- `</a:t>
            </a:r>
            <a:r>
              <a:rPr lang="en-US" altLang="ja-JP" sz="1200" b="1" dirty="0" err="1"/>
              <a:t>BattleAppContext</a:t>
            </a:r>
            <a:r>
              <a:rPr lang="en-US" altLang="ja-JP" sz="1200" dirty="0"/>
              <a:t>` </a:t>
            </a:r>
            <a:r>
              <a:rPr lang="ja-JP" altLang="en-US" sz="1200" dirty="0"/>
              <a:t>は </a:t>
            </a:r>
            <a:r>
              <a:rPr lang="en-US" altLang="ja-JP" sz="1200" dirty="0"/>
              <a:t>UI</a:t>
            </a:r>
            <a:r>
              <a:rPr lang="ja-JP" altLang="en-US" sz="1200" dirty="0"/>
              <a:t>操作用コンテキスト（</a:t>
            </a:r>
            <a:r>
              <a:rPr lang="en-US" altLang="ja-JP" sz="1200" dirty="0"/>
              <a:t>`</a:t>
            </a:r>
            <a:r>
              <a:rPr lang="en-US" altLang="ja-JP" sz="1200" dirty="0" err="1"/>
              <a:t>on_committed</a:t>
            </a:r>
            <a:r>
              <a:rPr lang="en-US" altLang="ja-JP" sz="1200" dirty="0"/>
              <a:t>`, `</a:t>
            </a:r>
            <a:r>
              <a:rPr lang="en-US" altLang="ja-JP" sz="1200" dirty="0" err="1"/>
              <a:t>all_actions_committed</a:t>
            </a:r>
            <a:r>
              <a:rPr lang="en-US" altLang="ja-JP" sz="1200" dirty="0"/>
              <a:t>` </a:t>
            </a:r>
            <a:r>
              <a:rPr lang="ja-JP" altLang="en-US" sz="1200" dirty="0"/>
              <a:t>を持つ）で、**</a:t>
            </a:r>
            <a:r>
              <a:rPr lang="en-US" altLang="ja-JP" sz="1200" dirty="0"/>
              <a:t>UI</a:t>
            </a:r>
            <a:r>
              <a:rPr lang="ja-JP" altLang="en-US" sz="1200" dirty="0"/>
              <a:t>層寄りの</a:t>
            </a:r>
            <a:r>
              <a:rPr lang="en-US" altLang="ja-JP" sz="1200" dirty="0"/>
              <a:t>Application</a:t>
            </a:r>
            <a:r>
              <a:rPr lang="ja-JP" altLang="en-US" sz="1200" dirty="0"/>
              <a:t>層境界**として機能。</a:t>
            </a:r>
          </a:p>
          <a:p>
            <a:r>
              <a:rPr lang="en-US" altLang="ja-JP" sz="1200" dirty="0"/>
              <a:t>- `</a:t>
            </a:r>
            <a:r>
              <a:rPr lang="en-US" altLang="ja-JP" sz="1200" b="1" dirty="0" err="1"/>
              <a:t>BattleContext</a:t>
            </a:r>
            <a:r>
              <a:rPr lang="en-US" altLang="ja-JP" sz="1200" dirty="0"/>
              <a:t>` </a:t>
            </a:r>
            <a:r>
              <a:rPr lang="ja-JP" altLang="en-US" sz="1200" dirty="0"/>
              <a:t>は戦闘ユースケースに必要な依存束で、**</a:t>
            </a:r>
            <a:r>
              <a:rPr lang="en-US" altLang="ja-JP" sz="1200" dirty="0"/>
              <a:t>Application</a:t>
            </a:r>
            <a:r>
              <a:rPr lang="ja-JP" altLang="en-US" sz="1200" dirty="0"/>
              <a:t>層の境界オブジェクト**。</a:t>
            </a:r>
          </a:p>
        </p:txBody>
      </p:sp>
    </p:spTree>
    <p:extLst>
      <p:ext uri="{BB962C8B-B14F-4D97-AF65-F5344CB8AC3E}">
        <p14:creationId xmlns:p14="http://schemas.microsoft.com/office/powerpoint/2010/main" val="111628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030B-A7F8-C5FF-5115-1EE296E3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FA9D0-1A16-EB03-BCD9-E25137CE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09798"/>
          </a:xfrm>
        </p:spPr>
        <p:txBody>
          <a:bodyPr>
            <a:normAutofit/>
          </a:bodyPr>
          <a:lstStyle/>
          <a:p>
            <a:pPr algn="ctr"/>
            <a:r>
              <a:rPr kumimoji="1" lang="en-US" altLang="ja-JP" sz="2400" dirty="0"/>
              <a:t>flask_app.py </a:t>
            </a:r>
            <a:r>
              <a:rPr kumimoji="1" lang="ja-JP" altLang="en-US" sz="2400" dirty="0"/>
              <a:t>起点の主要コンポーネント層分類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A741D0F-FECF-3225-442A-DA5FDED7A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23177"/>
              </p:ext>
            </p:extLst>
          </p:nvPr>
        </p:nvGraphicFramePr>
        <p:xfrm>
          <a:off x="225228" y="502920"/>
          <a:ext cx="11741544" cy="5699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6995">
                  <a:extLst>
                    <a:ext uri="{9D8B030D-6E8A-4147-A177-3AD203B41FA5}">
                      <a16:colId xmlns:a16="http://schemas.microsoft.com/office/drawing/2014/main" val="1580725944"/>
                    </a:ext>
                  </a:extLst>
                </a:gridCol>
                <a:gridCol w="10364549">
                  <a:extLst>
                    <a:ext uri="{9D8B030D-6E8A-4147-A177-3AD203B41FA5}">
                      <a16:colId xmlns:a16="http://schemas.microsoft.com/office/drawing/2014/main" val="1785907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</a:t>
                      </a:r>
                    </a:p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（</a:t>
                      </a:r>
                      <a:r>
                        <a:rPr kumimoji="1" lang="en-US" altLang="ja-JP" sz="1000" b="1" dirty="0">
                          <a:solidFill>
                            <a:schemeClr val="bg1"/>
                          </a:solidFill>
                        </a:rPr>
                        <a:t>HTTP/HTML/JSON </a:t>
                      </a:r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という入出力インターフェースを担う層）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`adapters/</a:t>
                      </a:r>
                      <a:r>
                        <a:rPr kumimoji="1" lang="en-US" altLang="ja-JP" sz="1000" b="1" dirty="0">
                          <a:solidFill>
                            <a:srgbClr val="FF0000"/>
                          </a:solidFill>
                        </a:rPr>
                        <a:t>flask_app.py</a:t>
                      </a:r>
                      <a:r>
                        <a:rPr kumimoji="1" lang="en-US" altLang="ja-JP" sz="1000" dirty="0"/>
                        <a:t>` </a:t>
                      </a:r>
                      <a:r>
                        <a:rPr kumimoji="1" lang="ja-JP" altLang="en-US" sz="1000" dirty="0"/>
                        <a:t>の </a:t>
                      </a:r>
                      <a:r>
                        <a:rPr kumimoji="1" lang="en-US" altLang="ja-JP" sz="1000" b="1" dirty="0"/>
                        <a:t>Flask </a:t>
                      </a:r>
                      <a:r>
                        <a:rPr kumimoji="1" lang="ja-JP" altLang="en-US" sz="1000" b="1" dirty="0"/>
                        <a:t>ルート</a:t>
                      </a:r>
                    </a:p>
                    <a:p>
                      <a:pPr algn="l"/>
                      <a:r>
                        <a:rPr kumimoji="1" lang="ja-JP" altLang="en-US" sz="1000" dirty="0"/>
                        <a:t>  </a:t>
                      </a:r>
                      <a:r>
                        <a:rPr kumimoji="1" lang="en-US" altLang="ja-JP" sz="1000" dirty="0"/>
                        <a:t>- </a:t>
                      </a:r>
                      <a:r>
                        <a:rPr kumimoji="1" lang="ja-JP" altLang="en-US" sz="1000" b="1" dirty="0"/>
                        <a:t>画面系</a:t>
                      </a:r>
                      <a:r>
                        <a:rPr kumimoji="1" lang="en-US" altLang="ja-JP" sz="1000" dirty="0"/>
                        <a:t>: `GET /`, `GET /menu`, `GET /menu/item`, `GET /menu/magic`, `GET /menu/equip`, `GET /menu/status`, `GET /menu/job`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</a:t>
                      </a:r>
                      <a:r>
                        <a:rPr kumimoji="1" lang="ja-JP" altLang="en-US" sz="1000" b="1" dirty="0"/>
                        <a:t>戦闘</a:t>
                      </a:r>
                      <a:r>
                        <a:rPr kumimoji="1" lang="en-US" altLang="ja-JP" sz="1000" b="1" dirty="0"/>
                        <a:t>API</a:t>
                      </a:r>
                      <a:r>
                        <a:rPr kumimoji="1" lang="en-US" altLang="ja-JP" sz="1000" dirty="0"/>
                        <a:t>: `POST /battle/round`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</a:t>
                      </a:r>
                      <a:r>
                        <a:rPr kumimoji="1" lang="ja-JP" altLang="en-US" sz="1000" b="1" dirty="0"/>
                        <a:t>メニュー</a:t>
                      </a:r>
                      <a:r>
                        <a:rPr kumimoji="1" lang="en-US" altLang="ja-JP" sz="1000" b="1" dirty="0"/>
                        <a:t>API</a:t>
                      </a:r>
                      <a:r>
                        <a:rPr kumimoji="1" lang="en-US" altLang="ja-JP" sz="1000" dirty="0"/>
                        <a:t>: `GET /menu/state`, `POST /menu/use-item`, `POST /menu/cast-magic`, `POST /menu/magic/learn`, `POST /menu/magic/remove`, `POST /menu/magic/swap`, `POST /menu/magic/use`, `POST /menu/change-equipment`, `POST /menu/unequip-all`, `POST /menu/change-job`, `POST /menu/reorder`, `POST /menu/toggle-row`, `POST /menu/save`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</a:t>
                      </a:r>
                      <a:r>
                        <a:rPr kumimoji="1" lang="ja-JP" altLang="en-US" sz="1000" b="1" dirty="0"/>
                        <a:t>静的アセット</a:t>
                      </a:r>
                      <a:r>
                        <a:rPr kumimoji="1" lang="en-US" altLang="ja-JP" sz="1000" dirty="0"/>
                        <a:t>: `/assets/enemy-sprites/*`, `/assets/portraits/*`, `/assets/</a:t>
                      </a:r>
                      <a:r>
                        <a:rPr kumimoji="1" lang="en-US" altLang="ja-JP" sz="1000" dirty="0" err="1"/>
                        <a:t>ui</a:t>
                      </a:r>
                      <a:r>
                        <a:rPr kumimoji="1" lang="en-US" altLang="ja-JP" sz="1000" dirty="0"/>
                        <a:t>/location-group-</a:t>
                      </a:r>
                      <a:r>
                        <a:rPr kumimoji="1" lang="en-US" altLang="ja-JP" sz="1000" dirty="0" err="1"/>
                        <a:t>bg</a:t>
                      </a:r>
                      <a:r>
                        <a:rPr kumimoji="1" lang="en-US" altLang="ja-JP" sz="1000" dirty="0"/>
                        <a:t>/*`, `/assets/status-icons/*`</a:t>
                      </a:r>
                    </a:p>
                    <a:p>
                      <a:pPr algn="l"/>
                      <a:r>
                        <a:rPr kumimoji="1" lang="en-US" altLang="ja-JP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`templates/*.html`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`top.html`, `menu.html`, `menu_item.html`, `menu_magic.html`, `menu_equip.html`, `menu_status.html`, `menu_job.html`</a:t>
                      </a:r>
                    </a:p>
                    <a:p>
                      <a:pPr algn="l"/>
                      <a:r>
                        <a:rPr kumimoji="1" lang="en-US" altLang="ja-JP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`adapters/flask_error_handlers.py`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dirty="0" err="1"/>
                        <a:t>jsonify</a:t>
                      </a:r>
                      <a:r>
                        <a:rPr kumimoji="1" lang="en-US" altLang="ja-JP" sz="1000" dirty="0"/>
                        <a:t>` </a:t>
                      </a:r>
                      <a:r>
                        <a:rPr kumimoji="1" lang="ja-JP" altLang="en-US" sz="1000" dirty="0"/>
                        <a:t>による </a:t>
                      </a:r>
                      <a:r>
                        <a:rPr kumimoji="1" lang="en-US" altLang="ja-JP" sz="1000" b="1" dirty="0"/>
                        <a:t>HTTP </a:t>
                      </a:r>
                      <a:r>
                        <a:rPr kumimoji="1" lang="ja-JP" altLang="en-US" sz="1000" b="1" dirty="0"/>
                        <a:t>エラー応答フォーマット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55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>
                          <a:solidFill>
                            <a:schemeClr val="bg1"/>
                          </a:solidFill>
                        </a:rPr>
                        <a:t>Application</a:t>
                      </a:r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層</a:t>
                      </a:r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（ユースケース呼び出し順序・セッション管理・フロー制御を担う層）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- `adapters/</a:t>
                      </a:r>
                      <a:r>
                        <a:rPr kumimoji="1" lang="en-US" altLang="ja-JP" sz="1000" b="1" dirty="0">
                          <a:solidFill>
                            <a:srgbClr val="FF0000"/>
                          </a:solidFill>
                        </a:rPr>
                        <a:t>flask_app.py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  - `</a:t>
                      </a:r>
                      <a:r>
                        <a:rPr kumimoji="1" lang="en-US" altLang="ja-JP" sz="1000" b="1" dirty="0" err="1">
                          <a:solidFill>
                            <a:srgbClr val="FF0000"/>
                          </a:solidFill>
                        </a:rPr>
                        <a:t>create_app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依存初期化、ルート登録、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</a:rPr>
                        <a:t>`</a:t>
                      </a:r>
                      <a:r>
                        <a:rPr kumimoji="1" lang="en-US" altLang="ja-JP" sz="1000" b="1" dirty="0" err="1">
                          <a:solidFill>
                            <a:schemeClr val="tx1"/>
                          </a:solidFill>
                        </a:rPr>
                        <a:t>battle_session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</a:rPr>
                        <a:t>` 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管理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  <a:p>
                      <a:pPr algn="l"/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- 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build_default_session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()`, 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refresh_session_party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セッション再構築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同期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  <a:p>
                      <a:pPr algn="l"/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- 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normalize_planned_actions_length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()`, 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require_int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()`, 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require_str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入力のアプリ境界検証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  <a:p>
                      <a:pPr algn="l"/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- `_build_*_snapshot()` 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群、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`_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build_menu_state_payload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テンプレート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</a:rPr>
                        <a:t>/API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向け </a:t>
                      </a:r>
                      <a:r>
                        <a:rPr kumimoji="1" lang="en-US" altLang="ja-JP" sz="1000" b="1" dirty="0" err="1">
                          <a:solidFill>
                            <a:schemeClr val="tx1"/>
                          </a:solidFill>
                        </a:rPr>
                        <a:t>ViewModel</a:t>
                      </a:r>
                      <a:r>
                        <a:rPr kumimoji="1" lang="en-US" altLang="ja-JP" sz="10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組み立て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  <a:p>
                      <a:pPr algn="l"/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- `</a:t>
                      </a:r>
                      <a:r>
                        <a:rPr kumimoji="1" lang="en-US" altLang="ja-JP" sz="1000" b="0" dirty="0" err="1">
                          <a:solidFill>
                            <a:schemeClr val="tx1"/>
                          </a:solidFill>
                        </a:rPr>
                        <a:t>run_dev_server</a:t>
                      </a:r>
                      <a:r>
                        <a:rPr kumimoji="1" lang="en-US" altLang="ja-JP" sz="1000" b="0" dirty="0">
                          <a:solidFill>
                            <a:schemeClr val="tx1"/>
                          </a:solidFill>
                        </a:rPr>
                        <a:t>()`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ja-JP" altLang="en-US" sz="1000" b="1" dirty="0">
                          <a:solidFill>
                            <a:schemeClr val="tx1"/>
                          </a:solidFill>
                        </a:rPr>
                        <a:t>実行設定の起動ラッパ</a:t>
                      </a: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）</a:t>
                      </a:r>
                      <a:endParaRPr kumimoji="1" lang="en-US" altLang="ja-JP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95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ロジック層</a:t>
                      </a:r>
                    </a:p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（戦闘ルール・判定・計算・ドメインエラー変換などを担う層）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combat.usecases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b="1" dirty="0" err="1">
                          <a:solidFill>
                            <a:schemeClr val="accent1"/>
                          </a:solidFill>
                        </a:rPr>
                        <a:t>build_battle_session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execute_round_dto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combat.enemy_selection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b="1" dirty="0" err="1"/>
                        <a:t>build_location_index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build_groups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b="1" dirty="0" err="1"/>
                        <a:t>pick_enemy_names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combat.char_build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dirty="0" err="1"/>
                        <a:t>build_party_members_from_save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apply_job_equipment_restrictions</a:t>
                      </a:r>
                      <a:r>
                        <a:rPr kumimoji="1" lang="en-US" altLang="ja-JP" sz="1000" dirty="0"/>
                        <a:t>`,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  `</a:t>
                      </a:r>
                      <a:r>
                        <a:rPr kumimoji="1" lang="en-US" altLang="ja-JP" sz="1000" dirty="0" err="1"/>
                        <a:t>compute_character_final_stats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combat.progression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b="1" dirty="0" err="1"/>
                        <a:t>apply_victory_rewards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combat.magic_menu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combat.magic_damage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dirty="0" err="1"/>
                        <a:t>build_party_magic_info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build_party_magic_lists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healing_spell_kind</a:t>
                      </a:r>
                      <a:r>
                        <a:rPr kumimoji="1" lang="en-US" altLang="ja-JP" sz="1000" dirty="0"/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solidFill>
                            <a:schemeClr val="bg1"/>
                          </a:solidFill>
                        </a:rPr>
                        <a:t>データ層</a:t>
                      </a:r>
                      <a:endParaRPr kumimoji="1" lang="en-US" altLang="ja-JP" sz="12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（永続データ・構造体・</a:t>
                      </a:r>
                      <a:r>
                        <a:rPr kumimoji="1" lang="en-US" altLang="ja-JP" sz="1000" b="1" dirty="0">
                          <a:solidFill>
                            <a:schemeClr val="bg1"/>
                          </a:solidFill>
                        </a:rPr>
                        <a:t>DTO</a:t>
                      </a:r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など「データ保持</a:t>
                      </a:r>
                      <a:r>
                        <a:rPr kumimoji="1" lang="en-US" altLang="ja-JP" sz="10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</a:rPr>
                        <a:t>変換」を中心に担う層）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combat.runtime_state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b="1" dirty="0" err="1">
                          <a:solidFill>
                            <a:schemeClr val="accent1"/>
                          </a:solidFill>
                        </a:rPr>
                        <a:t>RuntimeState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b="1" dirty="0" err="1">
                          <a:solidFill>
                            <a:schemeClr val="accent1"/>
                          </a:solidFill>
                        </a:rPr>
                        <a:t>init_runtime_state</a:t>
                      </a:r>
                      <a:r>
                        <a:rPr kumimoji="1" lang="en-US" altLang="ja-JP" sz="1000" dirty="0"/>
                        <a:t>()`</a:t>
                      </a:r>
                      <a:r>
                        <a:rPr kumimoji="1" lang="ja-JP" altLang="en-US" sz="1000" dirty="0"/>
                        <a:t>（</a:t>
                      </a:r>
                      <a:r>
                        <a:rPr kumimoji="1" lang="en-US" altLang="ja-JP" sz="1000" dirty="0"/>
                        <a:t>JSON</a:t>
                      </a:r>
                      <a:r>
                        <a:rPr kumimoji="1" lang="ja-JP" altLang="en-US" sz="1000" dirty="0"/>
                        <a:t>マスタとセーブデータを読み込み）</a:t>
                      </a:r>
                      <a:endParaRPr kumimoji="1" lang="en-US" altLang="ja-JP" sz="1000" dirty="0"/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assets.data.data_loader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dirty="0" err="1"/>
                        <a:t>load_explicit_groups</a:t>
                      </a:r>
                      <a:r>
                        <a:rPr kumimoji="1" lang="en-US" altLang="ja-JP" sz="1000" dirty="0"/>
                        <a:t>`, `</a:t>
                      </a:r>
                      <a:r>
                        <a:rPr kumimoji="1" lang="en-US" altLang="ja-JP" sz="1000" dirty="0" err="1"/>
                        <a:t>save_savedata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- `</a:t>
                      </a:r>
                      <a:r>
                        <a:rPr kumimoji="1" lang="en-US" altLang="ja-JP" sz="1000" dirty="0" err="1"/>
                        <a:t>combat.models</a:t>
                      </a:r>
                      <a:r>
                        <a:rPr kumimoji="1" lang="en-US" altLang="ja-JP" sz="1000" dirty="0"/>
                        <a:t>`</a:t>
                      </a:r>
                    </a:p>
                    <a:p>
                      <a:pPr algn="l"/>
                      <a:r>
                        <a:rPr kumimoji="1" lang="en-US" altLang="ja-JP" sz="1000" dirty="0"/>
                        <a:t>  - `</a:t>
                      </a:r>
                      <a:r>
                        <a:rPr kumimoji="1" lang="en-US" altLang="ja-JP" sz="1000" dirty="0" err="1"/>
                        <a:t>EquipmentSet</a:t>
                      </a:r>
                      <a:r>
                        <a:rPr kumimoji="1" lang="en-US" altLang="ja-JP" sz="1000" dirty="0"/>
                        <a:t>` </a:t>
                      </a:r>
                      <a:r>
                        <a:rPr kumimoji="1" lang="ja-JP" altLang="en-US" sz="1000" dirty="0"/>
                        <a:t>ほか</a:t>
                      </a:r>
                      <a:r>
                        <a:rPr kumimoji="1" lang="ja-JP" altLang="en-US" sz="1000" b="1" dirty="0"/>
                        <a:t>戦闘データクラス</a:t>
                      </a:r>
                      <a:endParaRPr kumimoji="1" lang="en-US" altLang="ja-JP" sz="1000" b="1" dirty="0"/>
                    </a:p>
                    <a:p>
                      <a:pPr algn="l"/>
                      <a:r>
                        <a:rPr kumimoji="1" lang="en-US" altLang="ja-JP" sz="1000" dirty="0"/>
                        <a:t> </a:t>
                      </a:r>
                      <a:r>
                        <a:rPr kumimoji="1" lang="ja-JP" altLang="en-US" sz="1000" dirty="0"/>
                        <a:t>（</a:t>
                      </a:r>
                      <a:r>
                        <a:rPr kumimoji="1" lang="en-US" altLang="ja-JP" sz="1000" dirty="0"/>
                        <a:t>`</a:t>
                      </a:r>
                      <a:r>
                        <a:rPr kumimoji="1" lang="en-US" altLang="ja-JP" sz="1000" b="0" dirty="0" err="1"/>
                        <a:t>PartyMemberRuntime</a:t>
                      </a:r>
                      <a:r>
                        <a:rPr kumimoji="1" lang="en-US" altLang="ja-JP" sz="1000" b="0" dirty="0"/>
                        <a:t>`, `</a:t>
                      </a:r>
                      <a:r>
                        <a:rPr kumimoji="1" lang="en-US" altLang="ja-JP" sz="1000" b="0" dirty="0" err="1"/>
                        <a:t>EnemyRuntime</a:t>
                      </a:r>
                      <a:r>
                        <a:rPr kumimoji="1" lang="en-US" altLang="ja-JP" sz="1000" b="0" dirty="0"/>
                        <a:t>`, `</a:t>
                      </a:r>
                      <a:r>
                        <a:rPr kumimoji="1" lang="en-US" altLang="ja-JP" sz="1000" b="0" dirty="0" err="1"/>
                        <a:t>PlannedAction</a:t>
                      </a:r>
                      <a:r>
                        <a:rPr kumimoji="1" lang="en-US" altLang="ja-JP" sz="1000" dirty="0"/>
                        <a:t>` </a:t>
                      </a:r>
                      <a:r>
                        <a:rPr kumimoji="1" lang="ja-JP" altLang="en-US" sz="1000" dirty="0"/>
                        <a:t>など）</a:t>
                      </a:r>
                      <a:endParaRPr kumimoji="1" lang="en-US" altLang="ja-JP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20391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A6E2C4-6703-4BF5-2A27-FF7378E78F31}"/>
              </a:ext>
            </a:extLst>
          </p:cNvPr>
          <p:cNvSpPr txBox="1"/>
          <p:nvPr/>
        </p:nvSpPr>
        <p:spPr>
          <a:xfrm>
            <a:off x="6363666" y="3279267"/>
            <a:ext cx="56031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ja-JP" sz="1000" dirty="0"/>
              <a:t>- `</a:t>
            </a:r>
            <a:r>
              <a:rPr kumimoji="1" lang="en-US" altLang="ja-JP" sz="1000" dirty="0" err="1"/>
              <a:t>combat.input_ui</a:t>
            </a:r>
            <a:r>
              <a:rPr kumimoji="1" lang="en-US" altLang="ja-JP" sz="1000" dirty="0"/>
              <a:t>`</a:t>
            </a:r>
          </a:p>
          <a:p>
            <a:pPr algn="l"/>
            <a:r>
              <a:rPr kumimoji="1" lang="en-US" altLang="ja-JP" sz="1000" dirty="0"/>
              <a:t>  - `</a:t>
            </a:r>
            <a:r>
              <a:rPr kumimoji="1" lang="en-US" altLang="ja-JP" sz="1000" dirty="0" err="1"/>
              <a:t>normalize_battle_command</a:t>
            </a:r>
            <a:r>
              <a:rPr kumimoji="1" lang="en-US" altLang="ja-JP" sz="1000" dirty="0"/>
              <a:t>`</a:t>
            </a:r>
          </a:p>
          <a:p>
            <a:pPr algn="l"/>
            <a:r>
              <a:rPr kumimoji="1" lang="en-US" altLang="ja-JP" sz="1000" dirty="0"/>
              <a:t>- `</a:t>
            </a:r>
            <a:r>
              <a:rPr kumimoji="1" lang="en-US" altLang="ja-JP" sz="1000" dirty="0" err="1"/>
              <a:t>system.cp_system</a:t>
            </a:r>
            <a:r>
              <a:rPr kumimoji="1" lang="en-US" altLang="ja-JP" sz="1000" dirty="0"/>
              <a:t>`</a:t>
            </a:r>
          </a:p>
          <a:p>
            <a:pPr algn="l"/>
            <a:r>
              <a:rPr kumimoji="1" lang="en-US" altLang="ja-JP" sz="1000" dirty="0"/>
              <a:t>  - `</a:t>
            </a:r>
            <a:r>
              <a:rPr kumimoji="1" lang="en-US" altLang="ja-JP" sz="1000" dirty="0" err="1"/>
              <a:t>compute_job_change_cp_cost</a:t>
            </a:r>
            <a:r>
              <a:rPr kumimoji="1" lang="en-US" altLang="ja-JP" sz="1000" dirty="0"/>
              <a:t>`, `</a:t>
            </a:r>
            <a:r>
              <a:rPr kumimoji="1" lang="en-US" altLang="ja-JP" sz="1000" dirty="0" err="1"/>
              <a:t>load_job_attribution</a:t>
            </a:r>
            <a:r>
              <a:rPr kumimoji="1" lang="en-US" altLang="ja-JP" sz="1000" dirty="0"/>
              <a:t>`</a:t>
            </a:r>
          </a:p>
          <a:p>
            <a:pPr algn="l"/>
            <a:endParaRPr kumimoji="1" lang="en-US" altLang="ja-JP" sz="1000" dirty="0"/>
          </a:p>
          <a:p>
            <a:pPr algn="l"/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- `adapters/flask_menu_actions.py`</a:t>
            </a:r>
          </a:p>
          <a:p>
            <a:pPr algn="l"/>
            <a:r>
              <a:rPr kumimoji="1" lang="en-US" altLang="ja-JP" sz="1000" b="0" dirty="0">
                <a:solidFill>
                  <a:schemeClr val="tx1"/>
                </a:solidFill>
              </a:rPr>
              <a:t>  -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make_cast_field_magic_fn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`,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make_use_field_item_fn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</a:t>
            </a:r>
            <a:r>
              <a:rPr kumimoji="1" lang="ja-JP" altLang="en-US" sz="1000" b="0" dirty="0">
                <a:solidFill>
                  <a:schemeClr val="tx1"/>
                </a:solidFill>
              </a:rPr>
              <a:t>（フィールド魔法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/</a:t>
            </a:r>
            <a:r>
              <a:rPr kumimoji="1" lang="ja-JP" altLang="en-US" sz="1000" b="0" dirty="0">
                <a:solidFill>
                  <a:schemeClr val="tx1"/>
                </a:solidFill>
              </a:rPr>
              <a:t>アイテムの適用ロジック）</a:t>
            </a:r>
          </a:p>
          <a:p>
            <a:pPr algn="l"/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- `adapters/flask_error_handlers.py`</a:t>
            </a:r>
          </a:p>
          <a:p>
            <a:pPr algn="l"/>
            <a:r>
              <a:rPr kumimoji="1" lang="en-US" altLang="ja-JP" sz="1000" b="0" dirty="0">
                <a:solidFill>
                  <a:schemeClr val="tx1"/>
                </a:solidFill>
              </a:rPr>
              <a:t>  -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map_domain_error_to_http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`,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map_unexpected_error_to_http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</a:t>
            </a:r>
            <a:endParaRPr kumimoji="1" lang="ja-JP" altLang="en-US" sz="1000" b="0" dirty="0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F00AD5-EDE4-29F1-8B51-5CD685CAA3B2}"/>
              </a:ext>
            </a:extLst>
          </p:cNvPr>
          <p:cNvSpPr txBox="1"/>
          <p:nvPr/>
        </p:nvSpPr>
        <p:spPr>
          <a:xfrm>
            <a:off x="8067143" y="2274573"/>
            <a:ext cx="38996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- `adapters/flask_error_handlers.py`</a:t>
            </a:r>
          </a:p>
          <a:p>
            <a:pPr algn="l"/>
            <a:r>
              <a:rPr kumimoji="1" lang="en-US" altLang="ja-JP" sz="1000" b="0" dirty="0">
                <a:solidFill>
                  <a:schemeClr val="tx1"/>
                </a:solidFill>
              </a:rPr>
              <a:t>  -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register_flask_error_handlers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(app)`</a:t>
            </a:r>
            <a:r>
              <a:rPr kumimoji="1" lang="ja-JP" altLang="en-US" sz="1000" b="0" dirty="0">
                <a:solidFill>
                  <a:schemeClr val="tx1"/>
                </a:solidFill>
              </a:rPr>
              <a:t>（アプリ全体の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例外ハンドリング方針</a:t>
            </a:r>
            <a:r>
              <a:rPr kumimoji="1" lang="ja-JP" altLang="en-US" sz="1000" b="0" dirty="0">
                <a:solidFill>
                  <a:schemeClr val="tx1"/>
                </a:solidFill>
              </a:rPr>
              <a:t>を登録）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D64850-2858-1F5D-4BB2-CD46C2C1D67D}"/>
              </a:ext>
            </a:extLst>
          </p:cNvPr>
          <p:cNvSpPr txBox="1"/>
          <p:nvPr/>
        </p:nvSpPr>
        <p:spPr>
          <a:xfrm>
            <a:off x="6656088" y="5050433"/>
            <a:ext cx="5310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- `</a:t>
            </a:r>
            <a:r>
              <a:rPr kumimoji="1" lang="en-US" altLang="ja-JP" sz="1000" b="1" dirty="0" err="1">
                <a:solidFill>
                  <a:schemeClr val="accent6">
                    <a:lumMod val="75000"/>
                  </a:schemeClr>
                </a:solidFill>
              </a:rPr>
              <a:t>combat.dto</a:t>
            </a:r>
            <a:r>
              <a:rPr kumimoji="1"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`</a:t>
            </a:r>
          </a:p>
          <a:p>
            <a:pPr algn="l"/>
            <a:r>
              <a:rPr kumimoji="1" lang="en-US" altLang="ja-JP" sz="1000" b="0" dirty="0">
                <a:solidFill>
                  <a:schemeClr val="tx1"/>
                </a:solidFill>
              </a:rPr>
              <a:t>  -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ExecuteRoundInputDTO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`,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parse_execute_round_input_dict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`, `</a:t>
            </a:r>
            <a:r>
              <a:rPr kumimoji="1" lang="en-US" altLang="ja-JP" sz="1000" b="0" dirty="0" err="1">
                <a:solidFill>
                  <a:schemeClr val="tx1"/>
                </a:solidFill>
              </a:rPr>
              <a:t>to_json_ready_dict</a:t>
            </a:r>
            <a:r>
              <a:rPr kumimoji="1" lang="en-US" altLang="ja-JP" sz="1000" b="0" dirty="0">
                <a:solidFill>
                  <a:schemeClr val="tx1"/>
                </a:solidFill>
              </a:rPr>
              <a:t>`</a:t>
            </a:r>
            <a:endParaRPr kumimoji="1" lang="en-US" altLang="ja-JP" sz="1000" dirty="0"/>
          </a:p>
          <a:p>
            <a:pPr algn="l"/>
            <a:r>
              <a:rPr kumimoji="1" lang="en-US" altLang="ja-JP" sz="1000" dirty="0"/>
              <a:t>- `</a:t>
            </a:r>
            <a:r>
              <a:rPr kumimoji="1" lang="en-US" altLang="ja-JP" sz="1000" dirty="0" err="1"/>
              <a:t>system.exp_system</a:t>
            </a:r>
            <a:r>
              <a:rPr kumimoji="1" lang="en-US" altLang="ja-JP" sz="1000" dirty="0"/>
              <a:t>`</a:t>
            </a:r>
          </a:p>
          <a:p>
            <a:pPr algn="l"/>
            <a:r>
              <a:rPr kumimoji="1" lang="en-US" altLang="ja-JP" sz="1000" dirty="0"/>
              <a:t>  - `</a:t>
            </a:r>
            <a:r>
              <a:rPr kumimoji="1" lang="en-US" altLang="ja-JP" sz="1000" b="1" dirty="0" err="1"/>
              <a:t>LevelTable</a:t>
            </a:r>
            <a:r>
              <a:rPr kumimoji="1" lang="en-US" altLang="ja-JP" sz="1000" dirty="0"/>
              <a:t>`, `</a:t>
            </a:r>
            <a:r>
              <a:rPr kumimoji="1" lang="en-US" altLang="ja-JP" sz="1000" dirty="0" err="1"/>
              <a:t>LevelStatus</a:t>
            </a:r>
            <a:r>
              <a:rPr kumimoji="1" lang="en-US" altLang="ja-JP" sz="1000" dirty="0"/>
              <a:t>`</a:t>
            </a:r>
            <a:endParaRPr kumimoji="1" lang="ja-JP" altLang="en-US" sz="10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8159B2-9805-60FA-23DB-BEB944535FD3}"/>
              </a:ext>
            </a:extLst>
          </p:cNvPr>
          <p:cNvSpPr txBox="1"/>
          <p:nvPr/>
        </p:nvSpPr>
        <p:spPr>
          <a:xfrm>
            <a:off x="225228" y="6202680"/>
            <a:ext cx="117900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/>
              <a:t>## </a:t>
            </a:r>
            <a:r>
              <a:rPr lang="ja-JP" altLang="en-US" sz="1000" dirty="0"/>
              <a:t>補足（境界の見方）</a:t>
            </a:r>
            <a:endParaRPr lang="en-US" altLang="ja-JP" sz="1000" dirty="0"/>
          </a:p>
          <a:p>
            <a:r>
              <a:rPr lang="en-US" altLang="ja-JP" sz="1000" dirty="0"/>
              <a:t>- `</a:t>
            </a:r>
            <a:r>
              <a:rPr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adapters/</a:t>
            </a:r>
            <a:r>
              <a:rPr lang="en-US" altLang="ja-JP" sz="1000" b="1" dirty="0">
                <a:solidFill>
                  <a:srgbClr val="FF0000"/>
                </a:solidFill>
              </a:rPr>
              <a:t>flask_app.py</a:t>
            </a:r>
            <a:r>
              <a:rPr lang="en-US" altLang="ja-JP" sz="1000" dirty="0"/>
              <a:t>` </a:t>
            </a:r>
            <a:r>
              <a:rPr lang="ja-JP" altLang="en-US" sz="1000" dirty="0"/>
              <a:t>には、純粋な </a:t>
            </a:r>
            <a:r>
              <a:rPr lang="en-US" altLang="ja-JP" sz="1000" dirty="0"/>
              <a:t>UI</a:t>
            </a:r>
            <a:r>
              <a:rPr lang="ja-JP" altLang="en-US" sz="1000" dirty="0"/>
              <a:t>（ルーティング</a:t>
            </a:r>
            <a:r>
              <a:rPr lang="en-US" altLang="ja-JP" sz="1000" dirty="0"/>
              <a:t>/</a:t>
            </a:r>
            <a:r>
              <a:rPr lang="ja-JP" altLang="en-US" sz="1000" dirty="0"/>
              <a:t>レスポンス）だけでなく、  画面表示用スナップショット生成のような </a:t>
            </a:r>
            <a:r>
              <a:rPr lang="en-US" altLang="ja-JP" sz="1000" dirty="0"/>
              <a:t>Application </a:t>
            </a:r>
            <a:r>
              <a:rPr lang="ja-JP" altLang="en-US" sz="1000" dirty="0"/>
              <a:t>的責務も含まれます。</a:t>
            </a:r>
            <a:endParaRPr lang="en-US" altLang="ja-JP" sz="1000" dirty="0"/>
          </a:p>
          <a:p>
            <a:r>
              <a:rPr lang="en-US" altLang="ja-JP" sz="1000" dirty="0"/>
              <a:t>- `</a:t>
            </a:r>
            <a:r>
              <a:rPr lang="en-US" altLang="ja-JP" sz="1000" b="1" dirty="0">
                <a:solidFill>
                  <a:schemeClr val="accent6">
                    <a:lumMod val="75000"/>
                  </a:schemeClr>
                </a:solidFill>
              </a:rPr>
              <a:t>adapters/</a:t>
            </a:r>
            <a:r>
              <a:rPr lang="en-US" altLang="ja-JP" sz="1000" b="1" dirty="0">
                <a:solidFill>
                  <a:srgbClr val="FF0000"/>
                </a:solidFill>
              </a:rPr>
              <a:t>flask_menu_actions.py</a:t>
            </a:r>
            <a:r>
              <a:rPr lang="en-US" altLang="ja-JP" sz="1000" dirty="0"/>
              <a:t>` </a:t>
            </a:r>
            <a:r>
              <a:rPr lang="ja-JP" altLang="en-US" sz="1000" dirty="0"/>
              <a:t>は </a:t>
            </a:r>
            <a:r>
              <a:rPr lang="en-US" altLang="ja-JP" sz="1000" dirty="0"/>
              <a:t>adapter </a:t>
            </a:r>
            <a:r>
              <a:rPr lang="ja-JP" altLang="en-US" sz="1000" dirty="0"/>
              <a:t>配下にありますが、  実際には </a:t>
            </a:r>
            <a:r>
              <a:rPr lang="en-US" altLang="ja-JP" sz="1000" dirty="0"/>
              <a:t>HP/MP/</a:t>
            </a:r>
            <a:r>
              <a:rPr lang="ja-JP" altLang="en-US" sz="1000" dirty="0"/>
              <a:t>状態異常・在庫更新などの業務ロジックを持つため、「</a:t>
            </a:r>
            <a:r>
              <a:rPr lang="en-US" altLang="ja-JP" sz="1000" dirty="0"/>
              <a:t>Flask </a:t>
            </a:r>
            <a:r>
              <a:rPr lang="ja-JP" altLang="en-US" sz="1000" dirty="0"/>
              <a:t>から呼び出されるロジック層の境界モジュール」として扱うと整理しやすいです。</a:t>
            </a:r>
          </a:p>
        </p:txBody>
      </p:sp>
    </p:spTree>
    <p:extLst>
      <p:ext uri="{BB962C8B-B14F-4D97-AF65-F5344CB8AC3E}">
        <p14:creationId xmlns:p14="http://schemas.microsoft.com/office/powerpoint/2010/main" val="2906209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3166</TotalTime>
  <Words>3624</Words>
  <Application>Microsoft Office PowerPoint</Application>
  <PresentationFormat>ワイド画面</PresentationFormat>
  <Paragraphs>290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ターン制戦闘ＲＰＧの処理</vt:lpstr>
      <vt:lpstr>クラス間の階層構造（集約クラスを上位にした整理）</vt:lpstr>
      <vt:lpstr>main.py / app_pygame.py / flask_app.py に共通する主要要素の層分類</vt:lpstr>
      <vt:lpstr>main.py 起点の主要コンポーネント層分類</vt:lpstr>
      <vt:lpstr>app_pygame.py 起点の主要コンポーネント層分類</vt:lpstr>
      <vt:lpstr>flask_app.py 起点の主要コンポーネント層分類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博貴 奥</dc:creator>
  <cp:lastModifiedBy>博貴 奥</cp:lastModifiedBy>
  <cp:revision>78</cp:revision>
  <cp:lastPrinted>2026-03-09T21:14:58Z</cp:lastPrinted>
  <dcterms:created xsi:type="dcterms:W3CDTF">2026-03-07T00:59:48Z</dcterms:created>
  <dcterms:modified xsi:type="dcterms:W3CDTF">2026-03-14T22:13:54Z</dcterms:modified>
</cp:coreProperties>
</file>